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Presentarme y dar el titulo en una frase: contar y ubicar porotos de soja en una imagen, con vision por computadora. Anticipar la idea fuerza: el problema no es el modelo, es conseguir datos etiquetados, y lo resolvemos generandolos. Mencionar que cierro con una demo en vivo. ~30 segundos, no leer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conteo manual es lento y subjetivo: dos personas cuentan distinto sobre la misma bandeja. Aterrizar el caso de control de calidad de soja. El mensaje central es el cuello de botella: lo caro es etiquetar miles de imagenes caja por caja, no entrenar. Esto justifica todo lo que sigue.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la charla en tres bloques: datos sinteticos, entrenamiento, inferencia con demo. Dejar claro que el peso del trabajo esta en el bloque 1; los otros dos son consecuencia. Usar las flechas para contar la historia de izquierda a derecha.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razones: etiqueta perfecta y gratis, control de densidad y oclusion, variabilidad infinita y costo casi cero. Si queda una sola, que sea la etiqueta perfecta: sabemos donde pusimos cada grano, asi que la caja sale exacta sin error humano. ~1 minuto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bisagra: presento el motor de datos y las cuatro fases que voy a recorrer. Es un indice, no detenerme: leer los cuatro titulos y pasar. ~30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1: separar el grano del fondo con Otsu, llevar la mascara al canal alfa y recortar a la bounding box; cada grano queda como un sticker RGBA reutilizable. Fase 2: a cada grano le aplico rotacion, escala, flips y jitter de color en HSV. La imagen de la derecha es el mismo grano en seis variantes. ~1 minuto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corazon del pipeline. Armo un lienzo, decido cuantos granos (20 a 150) y los voy pegando controlando con una mascara de ocupacion que no se tapen del todo. El blending por alfa evita bordes duros. Lo clave: en el mismo paso escribo la etiqueta YOLO exacta de cada grano. La imagen muestra las cajas generadas solas. Ir mas lento aca.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4: con la escena armada, le paso desenfoque y ruido de sensor a TODA la imagen para que fondo y granos compartan la misma firma optica; si no, la red aprende a detectar el borde sintetico en vez del grano. Mostrar las dos variantes (textura y alta densidad) y los numeros del dataset. ~1 minuto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YOLOv8 por dos razones: el dataset ya sale en formato YOLO y es liviano para servir la demo. Aclarar que el pipeline es agnostico al modelo. Punto importante: no me quedo con el mAP, mido el error de CONTEO en granos (MAE, RMSE, MAPE), que es lo que le importa al negocio. ~1 minuto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diagrama: el cliente manda la imagen por POST, FastAPI se la pasa al codigo Python que corre el modelo y cuenta, y devuelve success y cantidad. En paralelo guarda en el repositorio la IMAGEN con contornos y el archivo de metadatos. Las tres tarjetas: success es la bandera de confianza, IMAGEN es para verificacion visual humana, metadatos para trazabilidad. ~1 minuto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VIDEO grabado de 2 minutos (lo pide la cátedra): se reproduce acá y uno del grupo lo narra en vivo. Mostrar: subir una imagen del val real, el conteo, la lampara de success y el JSON de metadatos. Para insertar el video en PowerPoint: Insertar &gt; Video &gt; Este dispositivo, sobre el recuadro.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Numero honesto: el baseline clasico da MAE 6.5 y 6 por ciento de MAPE sobre densidades de 23 a 143. Cuenta bien con granos separados y subcuenta cuando se pegan (señalar en la imagen los dos granos fusionados en uno). Eso es justo lo que un detector entrenado deberia mejorar. La tabla es el marco de comparacion de enfoques, alineado con la literatura. ~1 minuto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honesta: la brecha sim-to-real esta sin medir, los granos de la demo son procedurales y la oclusion severa sigue siendo dificil. Proximos pasos concretos: conseguir un set real chico para validar, probar segmentacion y mapas de densidad, fine-tuning mezclando sintetico y real, y monitorear la tasa de success false en produccion.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fuerza: los datos sinteticos fueron la llave del problema. Recap de los tres entregables: pipeline de 4 fases, deteccion con metrica de conteo y servicio con demo. Agradecer y abrir a preguntas. ~30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1A"/>
        </a:solidFill>
      </p:bgPr>
    </p:bg>
    <p:spTree>
      <p:nvGrpSpPr>
        <p:cNvPr id="1" name=""/>
        <p:cNvGrpSpPr/>
        <p:nvPr/>
      </p:nvGrpSpPr>
      <p:grpSpPr>
        <a:xfrm>
          <a:off x="0" y="0"/>
          <a:ext cx="0" cy="0"/>
          <a:chOff x="0" y="0"/>
          <a:chExt cx="0" cy="0"/>
        </a:xfrm>
      </p:grpSpPr>
      <p:pic>
        <p:nvPicPr>
          <p:cNvPr id="2" name="Image 0" descr="/home/claude/poroto_cv/docs/deck_assets/bg_dense_clean.jpg">    </p:cNvPr>
          <p:cNvPicPr>
            <a:picLocks noChangeAspect="1"/>
          </p:cNvPicPr>
          <p:nvPr/>
        </p:nvPicPr>
        <p:blipFill>
          <a:blip r:embed="rId1">
            <a:alphaModFix amt="82000"/>
          </a:blip>
          <a:srcRect l="0" r="0" t="0" b="0"/>
          <a:stretch/>
        </p:blipFill>
        <p:spPr>
          <a:xfrm>
            <a:off x="7818120" y="0"/>
            <a:ext cx="6858000" cy="6858000"/>
          </a:xfrm>
          <a:prstGeom prst="rect">
            <a:avLst/>
          </a:prstGeom>
        </p:spPr>
      </p:pic>
      <p:sp>
        <p:nvSpPr>
          <p:cNvPr id="3" name="Shape 0"/>
          <p:cNvSpPr/>
          <p:nvPr/>
        </p:nvSpPr>
        <p:spPr>
          <a:xfrm>
            <a:off x="7818120" y="0"/>
            <a:ext cx="4343400" cy="6858000"/>
          </a:xfrm>
          <a:prstGeom prst="rect">
            <a:avLst/>
          </a:prstGeom>
          <a:solidFill>
            <a:srgbClr val="14201A">
              <a:alpha val="68000"/>
            </a:srgbClr>
          </a:solidFill>
          <a:ln/>
        </p:spPr>
      </p:sp>
      <p:sp>
        <p:nvSpPr>
          <p:cNvPr id="4" name="Shape 1"/>
          <p:cNvSpPr/>
          <p:nvPr/>
        </p:nvSpPr>
        <p:spPr>
          <a:xfrm rot="480000">
            <a:off x="777240" y="1371600"/>
            <a:ext cx="457200" cy="457200"/>
          </a:xfrm>
          <a:prstGeom prst="roundRect">
            <a:avLst>
              <a:gd name="adj" fmla="val 43478"/>
            </a:avLst>
          </a:prstGeom>
          <a:solidFill>
            <a:srgbClr val="D8A657"/>
          </a:solidFill>
          <a:ln/>
        </p:spPr>
      </p:sp>
      <p:sp>
        <p:nvSpPr>
          <p:cNvPr id="5" name="Text 2"/>
          <p:cNvSpPr/>
          <p:nvPr/>
        </p:nvSpPr>
        <p:spPr>
          <a:xfrm>
            <a:off x="1371600" y="1371600"/>
            <a:ext cx="6400800" cy="365760"/>
          </a:xfrm>
          <a:prstGeom prst="rect">
            <a:avLst/>
          </a:prstGeom>
          <a:noFill/>
          <a:ln/>
        </p:spPr>
        <p:txBody>
          <a:bodyPr wrap="square" lIns="0" tIns="0" rIns="0" bIns="0" rtlCol="0" anchor="ctr"/>
          <a:lstStyle/>
          <a:p>
            <a:pPr indent="0" marL="0">
              <a:buNone/>
            </a:pPr>
            <a:r>
              <a:rPr lang="en-US" sz="1300" b="1" spc="300" kern="0" dirty="0">
                <a:solidFill>
                  <a:srgbClr val="D8A657"/>
                </a:solidFill>
                <a:latin typeface="Calibri" pitchFamily="34" charset="0"/>
                <a:ea typeface="Calibri" pitchFamily="34" charset="-122"/>
                <a:cs typeface="Calibri" pitchFamily="34" charset="-120"/>
              </a:rPr>
              <a:t>VISIÓN POR COMPUTADORA II · FIUBA</a:t>
            </a:r>
            <a:endParaRPr lang="en-US" sz="1300" dirty="0"/>
          </a:p>
        </p:txBody>
      </p:sp>
      <p:sp>
        <p:nvSpPr>
          <p:cNvPr id="6" name="Text 3"/>
          <p:cNvSpPr/>
          <p:nvPr/>
        </p:nvSpPr>
        <p:spPr>
          <a:xfrm>
            <a:off x="777240" y="2057400"/>
            <a:ext cx="749808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Calibri" pitchFamily="34" charset="0"/>
                <a:ea typeface="Calibri" pitchFamily="34" charset="-122"/>
                <a:cs typeface="Calibri" pitchFamily="34" charset="-120"/>
              </a:rPr>
              <a:t>Conteo de porotos</a:t>
            </a:r>
            <a:endParaRPr lang="en-US" sz="4200" dirty="0"/>
          </a:p>
          <a:p>
            <a:pPr indent="0" marL="0">
              <a:lnSpc>
                <a:spcPct val="100000"/>
              </a:lnSpc>
              <a:buNone/>
            </a:pPr>
            <a:r>
              <a:rPr lang="en-US" sz="4200" b="1" dirty="0">
                <a:solidFill>
                  <a:srgbClr val="FFFFFF"/>
                </a:solidFill>
                <a:latin typeface="Calibri" pitchFamily="34" charset="0"/>
                <a:ea typeface="Calibri" pitchFamily="34" charset="-122"/>
                <a:cs typeface="Calibri" pitchFamily="34" charset="-120"/>
              </a:rPr>
              <a:t>por visión por computadora</a:t>
            </a:r>
            <a:endParaRPr lang="en-US" sz="4200" dirty="0"/>
          </a:p>
        </p:txBody>
      </p:sp>
      <p:sp>
        <p:nvSpPr>
          <p:cNvPr id="7" name="Text 4"/>
          <p:cNvSpPr/>
          <p:nvPr/>
        </p:nvSpPr>
        <p:spPr>
          <a:xfrm>
            <a:off x="822960" y="3886200"/>
            <a:ext cx="6949440" cy="457200"/>
          </a:xfrm>
          <a:prstGeom prst="rect">
            <a:avLst/>
          </a:prstGeom>
          <a:noFill/>
          <a:ln/>
        </p:spPr>
        <p:txBody>
          <a:bodyPr wrap="square" lIns="0" tIns="0" rIns="0" bIns="0" rtlCol="0" anchor="ctr"/>
          <a:lstStyle/>
          <a:p>
            <a:pPr indent="0" marL="0">
              <a:buNone/>
            </a:pPr>
            <a:r>
              <a:rPr lang="en-US" sz="1600" dirty="0">
                <a:solidFill>
                  <a:srgbClr val="CFE0D4"/>
                </a:solidFill>
                <a:latin typeface="Calibri" pitchFamily="34" charset="0"/>
                <a:ea typeface="Calibri" pitchFamily="34" charset="-122"/>
                <a:cs typeface="Calibri" pitchFamily="34" charset="-120"/>
              </a:rPr>
              <a:t>Generación de datos sintéticos · detección · despliegue con demo</a:t>
            </a:r>
            <a:endParaRPr lang="en-US" sz="1600" dirty="0"/>
          </a:p>
        </p:txBody>
      </p:sp>
      <p:sp>
        <p:nvSpPr>
          <p:cNvPr id="8" name="Shape 5"/>
          <p:cNvSpPr/>
          <p:nvPr/>
        </p:nvSpPr>
        <p:spPr>
          <a:xfrm>
            <a:off x="822960" y="4617720"/>
            <a:ext cx="2743200" cy="0"/>
          </a:xfrm>
          <a:prstGeom prst="line">
            <a:avLst/>
          </a:prstGeom>
          <a:noFill/>
          <a:ln w="12700">
            <a:solidFill>
              <a:srgbClr val="33503F"/>
            </a:solidFill>
            <a:prstDash val="solid"/>
          </a:ln>
        </p:spPr>
      </p:sp>
      <p:sp>
        <p:nvSpPr>
          <p:cNvPr id="9" name="Text 6"/>
          <p:cNvSpPr/>
          <p:nvPr/>
        </p:nvSpPr>
        <p:spPr>
          <a:xfrm>
            <a:off x="822960" y="4754880"/>
            <a:ext cx="6400800" cy="640080"/>
          </a:xfrm>
          <a:prstGeom prst="rect">
            <a:avLst/>
          </a:prstGeom>
          <a:noFill/>
          <a:ln/>
        </p:spPr>
        <p:txBody>
          <a:bodyPr wrap="square" lIns="0" tIns="0" rIns="0" bIns="0" rtlCol="0" anchor="ctr"/>
          <a:lstStyle/>
          <a:p>
            <a:pPr indent="0" marL="0">
              <a:buNone/>
            </a:pPr>
            <a:r>
              <a:rPr lang="en-US" sz="1300" b="1" dirty="0">
                <a:solidFill>
                  <a:srgbClr val="E8EFE9"/>
                </a:solidFill>
                <a:latin typeface="Calibri" pitchFamily="34" charset="0"/>
                <a:ea typeface="Calibri" pitchFamily="34" charset="-122"/>
                <a:cs typeface="Calibri" pitchFamily="34" charset="-120"/>
              </a:rPr>
              <a:t>Pipeline end-to-end</a:t>
            </a:r>
            <a:endParaRPr lang="en-US" sz="1300" dirty="0"/>
          </a:p>
          <a:p>
            <a:pPr indent="0" marL="0">
              <a:buNone/>
            </a:pPr>
            <a:r>
              <a:rPr lang="en-US" sz="1300" dirty="0">
                <a:solidFill>
                  <a:srgbClr val="5A6F62"/>
                </a:solidFill>
                <a:latin typeface="Calibri" pitchFamily="34" charset="0"/>
                <a:ea typeface="Calibri" pitchFamily="34" charset="-122"/>
                <a:cs typeface="Calibri" pitchFamily="34" charset="-120"/>
              </a:rPr>
              <a:t>datos → entrenamiento → API + frontend</a:t>
            </a:r>
            <a:endParaRPr lang="en-US" sz="1300" dirty="0"/>
          </a:p>
        </p:txBody>
      </p:sp>
      <p:sp>
        <p:nvSpPr>
          <p:cNvPr id="11" name="Text 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2" name="Text 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EL PROBLEMA</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Contar granos a mano no escala</a:t>
            </a:r>
            <a:endParaRPr lang="en-US" sz="3000" dirty="0"/>
          </a:p>
        </p:txBody>
      </p:sp>
      <p:sp>
        <p:nvSpPr>
          <p:cNvPr id="6" name="Text 3"/>
          <p:cNvSpPr/>
          <p:nvPr/>
        </p:nvSpPr>
        <p:spPr>
          <a:xfrm>
            <a:off x="457200" y="1737360"/>
            <a:ext cx="6035040" cy="1280160"/>
          </a:xfrm>
          <a:prstGeom prst="rect">
            <a:avLst/>
          </a:prstGeom>
          <a:noFill/>
          <a:ln/>
        </p:spPr>
        <p:txBody>
          <a:bodyPr wrap="square" rtlCol="0" anchor="t"/>
          <a:lstStyle/>
          <a:p>
            <a:pPr indent="0" marL="0">
              <a:lnSpc>
                <a:spcPct val="115000"/>
              </a:lnSpc>
              <a:buNone/>
            </a:pPr>
            <a:r>
              <a:rPr lang="en-US" sz="1650" dirty="0">
                <a:solidFill>
                  <a:srgbClr val="5A6F62"/>
                </a:solidFill>
                <a:latin typeface="Calibri" pitchFamily="34" charset="0"/>
                <a:ea typeface="Calibri" pitchFamily="34" charset="-122"/>
                <a:cs typeface="Calibri" pitchFamily="34" charset="-120"/>
              </a:rPr>
              <a:t>En control de calidad de granos (soja), contar y localizar cada poroto en una muestra es </a:t>
            </a:r>
            <a:pPr indent="0" marL="0">
              <a:lnSpc>
                <a:spcPct val="115000"/>
              </a:lnSpc>
              <a:buNone/>
            </a:pPr>
            <a:r>
              <a:rPr lang="en-US" sz="1650" b="1" dirty="0">
                <a:solidFill>
                  <a:srgbClr val="16231C"/>
                </a:solidFill>
                <a:latin typeface="Calibri" pitchFamily="34" charset="0"/>
                <a:ea typeface="Calibri" pitchFamily="34" charset="-122"/>
                <a:cs typeface="Calibri" pitchFamily="34" charset="-120"/>
              </a:rPr>
              <a:t>lento, tedioso y subjetivo</a:t>
            </a:r>
            <a:pPr indent="0" marL="0">
              <a:lnSpc>
                <a:spcPct val="115000"/>
              </a:lnSpc>
              <a:buNone/>
            </a:pPr>
            <a:r>
              <a:rPr lang="en-US" sz="1650" dirty="0">
                <a:solidFill>
                  <a:srgbClr val="5A6F62"/>
                </a:solidFill>
                <a:latin typeface="Calibri" pitchFamily="34" charset="0"/>
                <a:ea typeface="Calibri" pitchFamily="34" charset="-122"/>
                <a:cs typeface="Calibri" pitchFamily="34" charset="-120"/>
              </a:rPr>
              <a:t>. Dos personas cuentan distinto sobre la misma bandeja.</a:t>
            </a:r>
            <a:endParaRPr lang="en-US" sz="1650" dirty="0"/>
          </a:p>
        </p:txBody>
      </p:sp>
      <p:sp>
        <p:nvSpPr>
          <p:cNvPr id="7" name="Shape 4"/>
          <p:cNvSpPr/>
          <p:nvPr/>
        </p:nvSpPr>
        <p:spPr>
          <a:xfrm>
            <a:off x="457200" y="3200400"/>
            <a:ext cx="6035040" cy="1554480"/>
          </a:xfrm>
          <a:prstGeom prst="roundRect">
            <a:avLst>
              <a:gd name="adj" fmla="val 7059"/>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8" name="Text 5"/>
          <p:cNvSpPr/>
          <p:nvPr/>
        </p:nvSpPr>
        <p:spPr>
          <a:xfrm>
            <a:off x="731520" y="3401568"/>
            <a:ext cx="5486400" cy="1188720"/>
          </a:xfrm>
          <a:prstGeom prst="rect">
            <a:avLst/>
          </a:prstGeom>
          <a:noFill/>
          <a:ln/>
        </p:spPr>
        <p:txBody>
          <a:bodyPr wrap="square" rtlCol="0" anchor="t"/>
          <a:lstStyle/>
          <a:p>
            <a:pPr indent="0" marL="0">
              <a:lnSpc>
                <a:spcPct val="112000"/>
              </a:lnSpc>
              <a:buNone/>
            </a:pPr>
            <a:r>
              <a:rPr lang="en-US" sz="1450" b="1" dirty="0">
                <a:solidFill>
                  <a:srgbClr val="16231C"/>
                </a:solidFill>
                <a:latin typeface="Calibri" pitchFamily="34" charset="0"/>
                <a:ea typeface="Calibri" pitchFamily="34" charset="-122"/>
                <a:cs typeface="Calibri" pitchFamily="34" charset="-120"/>
              </a:rPr>
              <a:t>El verdadero cuello de botella</a:t>
            </a:r>
            <a:endParaRPr lang="en-US" sz="1450" dirty="0"/>
          </a:p>
          <a:p>
            <a:pPr indent="0" marL="0">
              <a:lnSpc>
                <a:spcPct val="112000"/>
              </a:lnSpc>
              <a:buNone/>
            </a:pPr>
            <a:r>
              <a:rPr lang="en-US" sz="1450" dirty="0">
                <a:solidFill>
                  <a:srgbClr val="5A6F62"/>
                </a:solidFill>
                <a:latin typeface="Calibri" pitchFamily="34" charset="0"/>
                <a:ea typeface="Calibri" pitchFamily="34" charset="-122"/>
                <a:cs typeface="Calibri" pitchFamily="34" charset="-120"/>
              </a:rPr>
              <a:t>No es el modelo: es conseguir miles de imágenes etiquetadas caja por caja. Anotar a mano es carísimo y no cubre toda la variabilidad real.</a:t>
            </a:r>
            <a:endParaRPr lang="en-US" sz="1450" dirty="0"/>
          </a:p>
        </p:txBody>
      </p:sp>
      <p:sp>
        <p:nvSpPr>
          <p:cNvPr id="9" name="Shape 6"/>
          <p:cNvSpPr/>
          <p:nvPr/>
        </p:nvSpPr>
        <p:spPr>
          <a:xfrm>
            <a:off x="6858000" y="1737360"/>
            <a:ext cx="4846320" cy="3017520"/>
          </a:xfrm>
          <a:prstGeom prst="roundRect">
            <a:avLst>
              <a:gd name="adj" fmla="val 3636"/>
            </a:avLst>
          </a:prstGeom>
          <a:solidFill>
            <a:srgbClr val="14201A"/>
          </a:solidFill>
          <a:ln/>
          <a:effectLst>
            <a:outerShdw sx="100000" sy="100000" kx="0" ky="0" algn="bl" rotWithShape="0" blurRad="114300" dist="38100" dir="5400000">
              <a:srgbClr val="16231C">
                <a:alpha val="10000"/>
              </a:srgbClr>
            </a:outerShdw>
          </a:effectLst>
        </p:spPr>
      </p:sp>
      <p:sp>
        <p:nvSpPr>
          <p:cNvPr id="10" name="Text 7"/>
          <p:cNvSpPr/>
          <p:nvPr/>
        </p:nvSpPr>
        <p:spPr>
          <a:xfrm>
            <a:off x="7132320" y="1965960"/>
            <a:ext cx="4297680" cy="365760"/>
          </a:xfrm>
          <a:prstGeom prst="rect">
            <a:avLst/>
          </a:prstGeom>
          <a:noFill/>
          <a:ln/>
        </p:spPr>
        <p:txBody>
          <a:bodyPr wrap="square" lIns="0" tIns="0" rIns="0" bIns="0" rtlCol="0" anchor="ctr"/>
          <a:lstStyle/>
          <a:p>
            <a:pPr indent="0" marL="0">
              <a:buNone/>
            </a:pPr>
            <a:r>
              <a:rPr lang="en-US" sz="1300" b="1" spc="100" kern="0" dirty="0">
                <a:solidFill>
                  <a:srgbClr val="D8A657"/>
                </a:solidFill>
                <a:latin typeface="Calibri" pitchFamily="34" charset="0"/>
                <a:ea typeface="Calibri" pitchFamily="34" charset="-122"/>
                <a:cs typeface="Calibri" pitchFamily="34" charset="-120"/>
              </a:rPr>
              <a:t>Lo que pedimos al sistema</a:t>
            </a:r>
            <a:endParaRPr lang="en-US" sz="1300" dirty="0"/>
          </a:p>
        </p:txBody>
      </p:sp>
      <p:sp>
        <p:nvSpPr>
          <p:cNvPr id="11" name="Text 8"/>
          <p:cNvSpPr/>
          <p:nvPr/>
        </p:nvSpPr>
        <p:spPr>
          <a:xfrm>
            <a:off x="7132320" y="2514600"/>
            <a:ext cx="21945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N</a:t>
            </a:r>
            <a:endParaRPr lang="en-US" sz="3400" dirty="0"/>
          </a:p>
        </p:txBody>
      </p:sp>
      <p:sp>
        <p:nvSpPr>
          <p:cNvPr id="12" name="Text 9"/>
          <p:cNvSpPr/>
          <p:nvPr/>
        </p:nvSpPr>
        <p:spPr>
          <a:xfrm>
            <a:off x="7132320" y="3154680"/>
            <a:ext cx="2194560" cy="548640"/>
          </a:xfrm>
          <a:prstGeom prst="rect">
            <a:avLst/>
          </a:prstGeom>
          <a:noFill/>
          <a:ln/>
        </p:spPr>
        <p:txBody>
          <a:bodyPr wrap="square" lIns="0" tIns="0" rIns="0" bIns="0" rtlCol="0" anchor="ctr"/>
          <a:lstStyle/>
          <a:p>
            <a:pPr indent="0" marL="0">
              <a:buNone/>
            </a:pPr>
            <a:r>
              <a:rPr lang="en-US" sz="1150" dirty="0">
                <a:solidFill>
                  <a:srgbClr val="AFC6B7"/>
                </a:solidFill>
                <a:latin typeface="Calibri" pitchFamily="34" charset="0"/>
                <a:ea typeface="Calibri" pitchFamily="34" charset="-122"/>
                <a:cs typeface="Calibri" pitchFamily="34" charset="-120"/>
              </a:rPr>
              <a:t>cantidad exacta de granos</a:t>
            </a:r>
            <a:endParaRPr lang="en-US" sz="1150" dirty="0"/>
          </a:p>
        </p:txBody>
      </p:sp>
      <p:sp>
        <p:nvSpPr>
          <p:cNvPr id="13" name="Text 10"/>
          <p:cNvSpPr/>
          <p:nvPr/>
        </p:nvSpPr>
        <p:spPr>
          <a:xfrm>
            <a:off x="9509760" y="2514600"/>
            <a:ext cx="21945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(x,y)</a:t>
            </a:r>
            <a:endParaRPr lang="en-US" sz="3400" dirty="0"/>
          </a:p>
        </p:txBody>
      </p:sp>
      <p:sp>
        <p:nvSpPr>
          <p:cNvPr id="14" name="Text 11"/>
          <p:cNvSpPr/>
          <p:nvPr/>
        </p:nvSpPr>
        <p:spPr>
          <a:xfrm>
            <a:off x="9509760" y="3154680"/>
            <a:ext cx="2194560" cy="548640"/>
          </a:xfrm>
          <a:prstGeom prst="rect">
            <a:avLst/>
          </a:prstGeom>
          <a:noFill/>
          <a:ln/>
        </p:spPr>
        <p:txBody>
          <a:bodyPr wrap="square" lIns="0" tIns="0" rIns="0" bIns="0" rtlCol="0" anchor="ctr"/>
          <a:lstStyle/>
          <a:p>
            <a:pPr indent="0" marL="0">
              <a:buNone/>
            </a:pPr>
            <a:r>
              <a:rPr lang="en-US" sz="1150" dirty="0">
                <a:solidFill>
                  <a:srgbClr val="AFC6B7"/>
                </a:solidFill>
                <a:latin typeface="Calibri" pitchFamily="34" charset="0"/>
                <a:ea typeface="Calibri" pitchFamily="34" charset="-122"/>
                <a:cs typeface="Calibri" pitchFamily="34" charset="-120"/>
              </a:rPr>
              <a:t>ubicación de cada uno</a:t>
            </a:r>
            <a:endParaRPr lang="en-US" sz="1150" dirty="0"/>
          </a:p>
        </p:txBody>
      </p:sp>
      <p:sp>
        <p:nvSpPr>
          <p:cNvPr id="15" name="Text 12"/>
          <p:cNvSpPr/>
          <p:nvPr/>
        </p:nvSpPr>
        <p:spPr>
          <a:xfrm>
            <a:off x="7132320" y="3703320"/>
            <a:ext cx="21945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16" name="Text 13"/>
          <p:cNvSpPr/>
          <p:nvPr/>
        </p:nvSpPr>
        <p:spPr>
          <a:xfrm>
            <a:off x="7132320" y="4343400"/>
            <a:ext cx="2194560" cy="548640"/>
          </a:xfrm>
          <a:prstGeom prst="rect">
            <a:avLst/>
          </a:prstGeom>
          <a:noFill/>
          <a:ln/>
        </p:spPr>
        <p:txBody>
          <a:bodyPr wrap="square" lIns="0" tIns="0" rIns="0" bIns="0" rtlCol="0" anchor="ctr"/>
          <a:lstStyle/>
          <a:p>
            <a:pPr indent="0" marL="0">
              <a:buNone/>
            </a:pPr>
            <a:r>
              <a:rPr lang="en-US" sz="1150" dirty="0">
                <a:solidFill>
                  <a:srgbClr val="AFC6B7"/>
                </a:solidFill>
                <a:latin typeface="Calibri" pitchFamily="34" charset="0"/>
                <a:ea typeface="Calibri" pitchFamily="34" charset="-122"/>
                <a:cs typeface="Calibri" pitchFamily="34" charset="-120"/>
              </a:rPr>
              <a:t>señal de confianza</a:t>
            </a:r>
            <a:endParaRPr lang="en-US" sz="1150" dirty="0"/>
          </a:p>
        </p:txBody>
      </p:sp>
      <p:sp>
        <p:nvSpPr>
          <p:cNvPr id="17" name="Text 14"/>
          <p:cNvSpPr/>
          <p:nvPr/>
        </p:nvSpPr>
        <p:spPr>
          <a:xfrm>
            <a:off x="9509760" y="3703320"/>
            <a:ext cx="21945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seg</a:t>
            </a:r>
            <a:endParaRPr lang="en-US" sz="3400" dirty="0"/>
          </a:p>
        </p:txBody>
      </p:sp>
      <p:sp>
        <p:nvSpPr>
          <p:cNvPr id="18" name="Text 15"/>
          <p:cNvSpPr/>
          <p:nvPr/>
        </p:nvSpPr>
        <p:spPr>
          <a:xfrm>
            <a:off x="9509760" y="4343400"/>
            <a:ext cx="2194560" cy="548640"/>
          </a:xfrm>
          <a:prstGeom prst="rect">
            <a:avLst/>
          </a:prstGeom>
          <a:noFill/>
          <a:ln/>
        </p:spPr>
        <p:txBody>
          <a:bodyPr wrap="square" lIns="0" tIns="0" rIns="0" bIns="0" rtlCol="0" anchor="ctr"/>
          <a:lstStyle/>
          <a:p>
            <a:pPr indent="0" marL="0">
              <a:buNone/>
            </a:pPr>
            <a:r>
              <a:rPr lang="en-US" sz="1150" dirty="0">
                <a:solidFill>
                  <a:srgbClr val="AFC6B7"/>
                </a:solidFill>
                <a:latin typeface="Calibri" pitchFamily="34" charset="0"/>
                <a:ea typeface="Calibri" pitchFamily="34" charset="-122"/>
                <a:cs typeface="Calibri" pitchFamily="34" charset="-120"/>
              </a:rPr>
              <a:t>por imagen, repetible</a:t>
            </a:r>
            <a:endParaRPr lang="en-US" sz="1150" dirty="0"/>
          </a:p>
        </p:txBody>
      </p:sp>
      <p:sp>
        <p:nvSpPr>
          <p:cNvPr id="19" name="Text 1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0" name="Text 17"/>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ENFOQUE</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Una solución en tres bloques</a:t>
            </a:r>
            <a:endParaRPr lang="en-US" sz="3000" dirty="0"/>
          </a:p>
        </p:txBody>
      </p:sp>
      <p:sp>
        <p:nvSpPr>
          <p:cNvPr id="6" name="Shape 3"/>
          <p:cNvSpPr/>
          <p:nvPr/>
        </p:nvSpPr>
        <p:spPr>
          <a:xfrm>
            <a:off x="457200" y="2194560"/>
            <a:ext cx="3611880" cy="2743200"/>
          </a:xfrm>
          <a:prstGeom prst="roundRect">
            <a:avLst>
              <a:gd name="adj" fmla="val 400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7" name="Shape 4"/>
          <p:cNvSpPr/>
          <p:nvPr/>
        </p:nvSpPr>
        <p:spPr>
          <a:xfrm>
            <a:off x="777240" y="2514600"/>
            <a:ext cx="640080" cy="640080"/>
          </a:xfrm>
          <a:prstGeom prst="ellipse">
            <a:avLst/>
          </a:prstGeom>
          <a:solidFill>
            <a:srgbClr val="14201A"/>
          </a:solidFill>
          <a:ln/>
        </p:spPr>
      </p:sp>
      <p:sp>
        <p:nvSpPr>
          <p:cNvPr id="8" name="Text 5"/>
          <p:cNvSpPr/>
          <p:nvPr/>
        </p:nvSpPr>
        <p:spPr>
          <a:xfrm>
            <a:off x="777240" y="2532888"/>
            <a:ext cx="640080" cy="603504"/>
          </a:xfrm>
          <a:prstGeom prst="rect">
            <a:avLst/>
          </a:prstGeom>
          <a:noFill/>
          <a:ln/>
        </p:spPr>
        <p:txBody>
          <a:bodyPr wrap="square" lIns="0" tIns="0" rIns="0" bIns="0" rtlCol="0" anchor="ctr"/>
          <a:lstStyle/>
          <a:p>
            <a:pPr algn="ctr" indent="0" marL="0">
              <a:buNone/>
            </a:pPr>
            <a:r>
              <a:rPr lang="en-US" sz="2400" b="1" dirty="0">
                <a:solidFill>
                  <a:srgbClr val="D8A657"/>
                </a:solidFill>
                <a:latin typeface="Calibri" pitchFamily="34" charset="0"/>
                <a:ea typeface="Calibri" pitchFamily="34" charset="-122"/>
                <a:cs typeface="Calibri" pitchFamily="34" charset="-120"/>
              </a:rPr>
              <a:t>1</a:t>
            </a:r>
            <a:endParaRPr lang="en-US" sz="2400" dirty="0"/>
          </a:p>
        </p:txBody>
      </p:sp>
      <p:sp>
        <p:nvSpPr>
          <p:cNvPr id="9" name="Text 6"/>
          <p:cNvSpPr/>
          <p:nvPr/>
        </p:nvSpPr>
        <p:spPr>
          <a:xfrm>
            <a:off x="777240" y="3291840"/>
            <a:ext cx="2971800" cy="548640"/>
          </a:xfrm>
          <a:prstGeom prst="rect">
            <a:avLst/>
          </a:prstGeom>
          <a:noFill/>
          <a:ln/>
        </p:spPr>
        <p:txBody>
          <a:bodyPr wrap="square" lIns="0" tIns="0" rIns="0" bIns="0" rtlCol="0" anchor="ctr"/>
          <a:lstStyle/>
          <a:p>
            <a:pPr indent="0" marL="0">
              <a:buNone/>
            </a:pPr>
            <a:r>
              <a:rPr lang="en-US" sz="1800" b="1" dirty="0">
                <a:solidFill>
                  <a:srgbClr val="16231C"/>
                </a:solidFill>
                <a:latin typeface="Calibri" pitchFamily="34" charset="0"/>
                <a:ea typeface="Calibri" pitchFamily="34" charset="-122"/>
                <a:cs typeface="Calibri" pitchFamily="34" charset="-120"/>
              </a:rPr>
              <a:t>Datos sintéticos</a:t>
            </a:r>
            <a:endParaRPr lang="en-US" sz="1800" dirty="0"/>
          </a:p>
        </p:txBody>
      </p:sp>
      <p:sp>
        <p:nvSpPr>
          <p:cNvPr id="10" name="Text 7"/>
          <p:cNvSpPr/>
          <p:nvPr/>
        </p:nvSpPr>
        <p:spPr>
          <a:xfrm>
            <a:off x="777240" y="3886200"/>
            <a:ext cx="2971800" cy="914400"/>
          </a:xfrm>
          <a:prstGeom prst="rect">
            <a:avLst/>
          </a:prstGeom>
          <a:noFill/>
          <a:ln/>
        </p:spPr>
        <p:txBody>
          <a:bodyPr wrap="square" lIns="0" tIns="0" rIns="0" bIns="0" rtlCol="0" anchor="t"/>
          <a:lstStyle/>
          <a:p>
            <a:pPr indent="0" marL="0">
              <a:lnSpc>
                <a:spcPct val="110000"/>
              </a:lnSpc>
              <a:buNone/>
            </a:pPr>
            <a:r>
              <a:rPr lang="en-US" sz="1300" dirty="0">
                <a:solidFill>
                  <a:srgbClr val="5A6F62"/>
                </a:solidFill>
                <a:latin typeface="Calibri" pitchFamily="34" charset="0"/>
                <a:ea typeface="Calibri" pitchFamily="34" charset="-122"/>
                <a:cs typeface="Calibri" pitchFamily="34" charset="-120"/>
              </a:rPr>
              <a:t>Generamos imágenes realistas con su ground truth automático. Resuelve la falta de datos etiquetados.</a:t>
            </a:r>
            <a:endParaRPr lang="en-US" sz="1300" dirty="0"/>
          </a:p>
        </p:txBody>
      </p:sp>
      <p:sp>
        <p:nvSpPr>
          <p:cNvPr id="11" name="Text 8"/>
          <p:cNvSpPr/>
          <p:nvPr/>
        </p:nvSpPr>
        <p:spPr>
          <a:xfrm>
            <a:off x="4087368" y="3291840"/>
            <a:ext cx="365760" cy="457200"/>
          </a:xfrm>
          <a:prstGeom prst="rect">
            <a:avLst/>
          </a:prstGeom>
          <a:noFill/>
          <a:ln/>
        </p:spPr>
        <p:txBody>
          <a:bodyPr wrap="square" lIns="0" tIns="0" rIns="0" bIns="0" rtlCol="0" anchor="ctr"/>
          <a:lstStyle/>
          <a:p>
            <a:pPr algn="ctr" indent="0" marL="0">
              <a:buNone/>
            </a:pPr>
            <a:r>
              <a:rPr lang="en-US" sz="2200" dirty="0">
                <a:solidFill>
                  <a:srgbClr val="C68A3E"/>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4480560" y="2194560"/>
            <a:ext cx="3611880" cy="2743200"/>
          </a:xfrm>
          <a:prstGeom prst="roundRect">
            <a:avLst>
              <a:gd name="adj" fmla="val 400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3" name="Shape 10"/>
          <p:cNvSpPr/>
          <p:nvPr/>
        </p:nvSpPr>
        <p:spPr>
          <a:xfrm>
            <a:off x="4800600" y="2514600"/>
            <a:ext cx="640080" cy="640080"/>
          </a:xfrm>
          <a:prstGeom prst="ellipse">
            <a:avLst/>
          </a:prstGeom>
          <a:solidFill>
            <a:srgbClr val="14201A"/>
          </a:solidFill>
          <a:ln/>
        </p:spPr>
      </p:sp>
      <p:sp>
        <p:nvSpPr>
          <p:cNvPr id="14" name="Text 11"/>
          <p:cNvSpPr/>
          <p:nvPr/>
        </p:nvSpPr>
        <p:spPr>
          <a:xfrm>
            <a:off x="4800600" y="2532888"/>
            <a:ext cx="640080" cy="603504"/>
          </a:xfrm>
          <a:prstGeom prst="rect">
            <a:avLst/>
          </a:prstGeom>
          <a:noFill/>
          <a:ln/>
        </p:spPr>
        <p:txBody>
          <a:bodyPr wrap="square" lIns="0" tIns="0" rIns="0" bIns="0" rtlCol="0" anchor="ctr"/>
          <a:lstStyle/>
          <a:p>
            <a:pPr algn="ctr" indent="0" marL="0">
              <a:buNone/>
            </a:pPr>
            <a:r>
              <a:rPr lang="en-US" sz="2400" b="1" dirty="0">
                <a:solidFill>
                  <a:srgbClr val="D8A657"/>
                </a:solidFill>
                <a:latin typeface="Calibri" pitchFamily="34" charset="0"/>
                <a:ea typeface="Calibri" pitchFamily="34" charset="-122"/>
                <a:cs typeface="Calibri" pitchFamily="34" charset="-120"/>
              </a:rPr>
              <a:t>2</a:t>
            </a:r>
            <a:endParaRPr lang="en-US" sz="2400" dirty="0"/>
          </a:p>
        </p:txBody>
      </p:sp>
      <p:sp>
        <p:nvSpPr>
          <p:cNvPr id="15" name="Text 12"/>
          <p:cNvSpPr/>
          <p:nvPr/>
        </p:nvSpPr>
        <p:spPr>
          <a:xfrm>
            <a:off x="4800600" y="3291840"/>
            <a:ext cx="2971800" cy="548640"/>
          </a:xfrm>
          <a:prstGeom prst="rect">
            <a:avLst/>
          </a:prstGeom>
          <a:noFill/>
          <a:ln/>
        </p:spPr>
        <p:txBody>
          <a:bodyPr wrap="square" lIns="0" tIns="0" rIns="0" bIns="0" rtlCol="0" anchor="ctr"/>
          <a:lstStyle/>
          <a:p>
            <a:pPr indent="0" marL="0">
              <a:buNone/>
            </a:pPr>
            <a:r>
              <a:rPr lang="en-US" sz="1800" b="1" dirty="0">
                <a:solidFill>
                  <a:srgbClr val="16231C"/>
                </a:solidFill>
                <a:latin typeface="Calibri" pitchFamily="34" charset="0"/>
                <a:ea typeface="Calibri" pitchFamily="34" charset="-122"/>
                <a:cs typeface="Calibri" pitchFamily="34" charset="-120"/>
              </a:rPr>
              <a:t>Entrenamiento</a:t>
            </a:r>
            <a:endParaRPr lang="en-US" sz="1800" dirty="0"/>
          </a:p>
        </p:txBody>
      </p:sp>
      <p:sp>
        <p:nvSpPr>
          <p:cNvPr id="16" name="Text 13"/>
          <p:cNvSpPr/>
          <p:nvPr/>
        </p:nvSpPr>
        <p:spPr>
          <a:xfrm>
            <a:off x="4800600" y="3886200"/>
            <a:ext cx="2971800" cy="914400"/>
          </a:xfrm>
          <a:prstGeom prst="rect">
            <a:avLst/>
          </a:prstGeom>
          <a:noFill/>
          <a:ln/>
        </p:spPr>
        <p:txBody>
          <a:bodyPr wrap="square" lIns="0" tIns="0" rIns="0" bIns="0" rtlCol="0" anchor="t"/>
          <a:lstStyle/>
          <a:p>
            <a:pPr indent="0" marL="0">
              <a:lnSpc>
                <a:spcPct val="110000"/>
              </a:lnSpc>
              <a:buNone/>
            </a:pPr>
            <a:r>
              <a:rPr lang="en-US" sz="1300" dirty="0">
                <a:solidFill>
                  <a:srgbClr val="5A6F62"/>
                </a:solidFill>
                <a:latin typeface="Calibri" pitchFamily="34" charset="0"/>
                <a:ea typeface="Calibri" pitchFamily="34" charset="-122"/>
                <a:cs typeface="Calibri" pitchFamily="34" charset="-120"/>
              </a:rPr>
              <a:t>Un detector (YOLOv8) aprende a localizar cada grano. La métrica que importa es el error de conteo.</a:t>
            </a:r>
            <a:endParaRPr lang="en-US" sz="1300" dirty="0"/>
          </a:p>
        </p:txBody>
      </p:sp>
      <p:sp>
        <p:nvSpPr>
          <p:cNvPr id="17" name="Text 14"/>
          <p:cNvSpPr/>
          <p:nvPr/>
        </p:nvSpPr>
        <p:spPr>
          <a:xfrm>
            <a:off x="8110728" y="3291840"/>
            <a:ext cx="365760" cy="457200"/>
          </a:xfrm>
          <a:prstGeom prst="rect">
            <a:avLst/>
          </a:prstGeom>
          <a:noFill/>
          <a:ln/>
        </p:spPr>
        <p:txBody>
          <a:bodyPr wrap="square" lIns="0" tIns="0" rIns="0" bIns="0" rtlCol="0" anchor="ctr"/>
          <a:lstStyle/>
          <a:p>
            <a:pPr algn="ctr" indent="0" marL="0">
              <a:buNone/>
            </a:pPr>
            <a:r>
              <a:rPr lang="en-US" sz="2200" dirty="0">
                <a:solidFill>
                  <a:srgbClr val="C68A3E"/>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8503920" y="2194560"/>
            <a:ext cx="3611880" cy="2743200"/>
          </a:xfrm>
          <a:prstGeom prst="roundRect">
            <a:avLst>
              <a:gd name="adj" fmla="val 400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9" name="Shape 16"/>
          <p:cNvSpPr/>
          <p:nvPr/>
        </p:nvSpPr>
        <p:spPr>
          <a:xfrm>
            <a:off x="8823960" y="2514600"/>
            <a:ext cx="640080" cy="640080"/>
          </a:xfrm>
          <a:prstGeom prst="ellipse">
            <a:avLst/>
          </a:prstGeom>
          <a:solidFill>
            <a:srgbClr val="14201A"/>
          </a:solidFill>
          <a:ln/>
        </p:spPr>
      </p:sp>
      <p:sp>
        <p:nvSpPr>
          <p:cNvPr id="20" name="Text 17"/>
          <p:cNvSpPr/>
          <p:nvPr/>
        </p:nvSpPr>
        <p:spPr>
          <a:xfrm>
            <a:off x="8823960" y="2532888"/>
            <a:ext cx="640080" cy="603504"/>
          </a:xfrm>
          <a:prstGeom prst="rect">
            <a:avLst/>
          </a:prstGeom>
          <a:noFill/>
          <a:ln/>
        </p:spPr>
        <p:txBody>
          <a:bodyPr wrap="square" lIns="0" tIns="0" rIns="0" bIns="0" rtlCol="0" anchor="ctr"/>
          <a:lstStyle/>
          <a:p>
            <a:pPr algn="ctr" indent="0" marL="0">
              <a:buNone/>
            </a:pPr>
            <a:r>
              <a:rPr lang="en-US" sz="2400" b="1" dirty="0">
                <a:solidFill>
                  <a:srgbClr val="D8A657"/>
                </a:solidFill>
                <a:latin typeface="Calibri" pitchFamily="34" charset="0"/>
                <a:ea typeface="Calibri" pitchFamily="34" charset="-122"/>
                <a:cs typeface="Calibri" pitchFamily="34" charset="-120"/>
              </a:rPr>
              <a:t>3</a:t>
            </a:r>
            <a:endParaRPr lang="en-US" sz="2400" dirty="0"/>
          </a:p>
        </p:txBody>
      </p:sp>
      <p:sp>
        <p:nvSpPr>
          <p:cNvPr id="21" name="Text 18"/>
          <p:cNvSpPr/>
          <p:nvPr/>
        </p:nvSpPr>
        <p:spPr>
          <a:xfrm>
            <a:off x="8823960" y="3291840"/>
            <a:ext cx="2971800" cy="548640"/>
          </a:xfrm>
          <a:prstGeom prst="rect">
            <a:avLst/>
          </a:prstGeom>
          <a:noFill/>
          <a:ln/>
        </p:spPr>
        <p:txBody>
          <a:bodyPr wrap="square" lIns="0" tIns="0" rIns="0" bIns="0" rtlCol="0" anchor="ctr"/>
          <a:lstStyle/>
          <a:p>
            <a:pPr indent="0" marL="0">
              <a:buNone/>
            </a:pPr>
            <a:r>
              <a:rPr lang="en-US" sz="1800" b="1" dirty="0">
                <a:solidFill>
                  <a:srgbClr val="16231C"/>
                </a:solidFill>
                <a:latin typeface="Calibri" pitchFamily="34" charset="0"/>
                <a:ea typeface="Calibri" pitchFamily="34" charset="-122"/>
                <a:cs typeface="Calibri" pitchFamily="34" charset="-120"/>
              </a:rPr>
              <a:t>Inferencia + demo</a:t>
            </a:r>
            <a:endParaRPr lang="en-US" sz="1800" dirty="0"/>
          </a:p>
        </p:txBody>
      </p:sp>
      <p:sp>
        <p:nvSpPr>
          <p:cNvPr id="22" name="Text 19"/>
          <p:cNvSpPr/>
          <p:nvPr/>
        </p:nvSpPr>
        <p:spPr>
          <a:xfrm>
            <a:off x="8823960" y="3886200"/>
            <a:ext cx="2971800" cy="914400"/>
          </a:xfrm>
          <a:prstGeom prst="rect">
            <a:avLst/>
          </a:prstGeom>
          <a:noFill/>
          <a:ln/>
        </p:spPr>
        <p:txBody>
          <a:bodyPr wrap="square" lIns="0" tIns="0" rIns="0" bIns="0" rtlCol="0" anchor="t"/>
          <a:lstStyle/>
          <a:p>
            <a:pPr indent="0" marL="0">
              <a:lnSpc>
                <a:spcPct val="110000"/>
              </a:lnSpc>
              <a:buNone/>
            </a:pPr>
            <a:r>
              <a:rPr lang="en-US" sz="1300" dirty="0">
                <a:solidFill>
                  <a:srgbClr val="5A6F62"/>
                </a:solidFill>
                <a:latin typeface="Calibri" pitchFamily="34" charset="0"/>
                <a:ea typeface="Calibri" pitchFamily="34" charset="-122"/>
                <a:cs typeface="Calibri" pitchFamily="34" charset="-120"/>
              </a:rPr>
              <a:t>API HTTP (FastAPI) que devuelve cantidad y confianza, más un frontend de inspección.</a:t>
            </a:r>
            <a:endParaRPr lang="en-US" sz="1300" dirty="0"/>
          </a:p>
        </p:txBody>
      </p:sp>
      <p:sp>
        <p:nvSpPr>
          <p:cNvPr id="23" name="Text 20"/>
          <p:cNvSpPr/>
          <p:nvPr/>
        </p:nvSpPr>
        <p:spPr>
          <a:xfrm>
            <a:off x="457200" y="5212080"/>
            <a:ext cx="10972800" cy="365760"/>
          </a:xfrm>
          <a:prstGeom prst="rect">
            <a:avLst/>
          </a:prstGeom>
          <a:noFill/>
          <a:ln/>
        </p:spPr>
        <p:txBody>
          <a:bodyPr wrap="square" rtlCol="0" anchor="ctr"/>
          <a:lstStyle/>
          <a:p>
            <a:pPr indent="0" marL="0">
              <a:buNone/>
            </a:pPr>
            <a:r>
              <a:rPr lang="en-US" sz="1350" i="1" dirty="0">
                <a:solidFill>
                  <a:srgbClr val="2F7D52"/>
                </a:solidFill>
                <a:latin typeface="Calibri" pitchFamily="34" charset="0"/>
                <a:ea typeface="Calibri" pitchFamily="34" charset="-122"/>
                <a:cs typeface="Calibri" pitchFamily="34" charset="-120"/>
              </a:rPr>
              <a:t>El núcleo del trabajo está en el bloque 1: sin datos, no hay modelo.</a:t>
            </a:r>
            <a:endParaRPr lang="en-US" sz="1350" dirty="0"/>
          </a:p>
        </p:txBody>
      </p:sp>
      <p:sp>
        <p:nvSpPr>
          <p:cNvPr id="24" name="Text 2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5" name="Text 22"/>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DATOS SINTÉTICOS</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Por qué generarlos en vez de anotarlos</a:t>
            </a:r>
            <a:endParaRPr lang="en-US" sz="3000" dirty="0"/>
          </a:p>
        </p:txBody>
      </p:sp>
      <p:sp>
        <p:nvSpPr>
          <p:cNvPr id="6" name="Shape 3"/>
          <p:cNvSpPr/>
          <p:nvPr/>
        </p:nvSpPr>
        <p:spPr>
          <a:xfrm>
            <a:off x="457200" y="2148840"/>
            <a:ext cx="5486400" cy="1417320"/>
          </a:xfrm>
          <a:prstGeom prst="roundRect">
            <a:avLst>
              <a:gd name="adj" fmla="val 6452"/>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7" name="Shape 4"/>
          <p:cNvSpPr/>
          <p:nvPr/>
        </p:nvSpPr>
        <p:spPr>
          <a:xfrm rot="480000">
            <a:off x="777240" y="2468880"/>
            <a:ext cx="310896" cy="310896"/>
          </a:xfrm>
          <a:prstGeom prst="roundRect">
            <a:avLst>
              <a:gd name="adj" fmla="val 43478"/>
            </a:avLst>
          </a:prstGeom>
          <a:solidFill>
            <a:srgbClr val="C68A3E"/>
          </a:solidFill>
          <a:ln/>
        </p:spPr>
      </p:sp>
      <p:sp>
        <p:nvSpPr>
          <p:cNvPr id="8" name="Text 5"/>
          <p:cNvSpPr/>
          <p:nvPr/>
        </p:nvSpPr>
        <p:spPr>
          <a:xfrm>
            <a:off x="1325880" y="2404872"/>
            <a:ext cx="4389120" cy="411480"/>
          </a:xfrm>
          <a:prstGeom prst="rect">
            <a:avLst/>
          </a:prstGeom>
          <a:noFill/>
          <a:ln/>
        </p:spPr>
        <p:txBody>
          <a:bodyPr wrap="square" lIns="0" tIns="0" rIns="0" bIns="0" rtlCol="0" anchor="ctr"/>
          <a:lstStyle/>
          <a:p>
            <a:pPr indent="0" marL="0">
              <a:buNone/>
            </a:pPr>
            <a:r>
              <a:rPr lang="en-US" sz="1650" b="1" dirty="0">
                <a:solidFill>
                  <a:srgbClr val="16231C"/>
                </a:solidFill>
                <a:latin typeface="Calibri" pitchFamily="34" charset="0"/>
                <a:ea typeface="Calibri" pitchFamily="34" charset="-122"/>
                <a:cs typeface="Calibri" pitchFamily="34" charset="-120"/>
              </a:rPr>
              <a:t>Etiqueta perfecta y gratis</a:t>
            </a:r>
            <a:endParaRPr lang="en-US" sz="1650" dirty="0"/>
          </a:p>
        </p:txBody>
      </p:sp>
      <p:sp>
        <p:nvSpPr>
          <p:cNvPr id="9" name="Text 6"/>
          <p:cNvSpPr/>
          <p:nvPr/>
        </p:nvSpPr>
        <p:spPr>
          <a:xfrm>
            <a:off x="1325880" y="2825496"/>
            <a:ext cx="4389120" cy="640080"/>
          </a:xfrm>
          <a:prstGeom prst="rect">
            <a:avLst/>
          </a:prstGeom>
          <a:noFill/>
          <a:ln/>
        </p:spPr>
        <p:txBody>
          <a:bodyPr wrap="square" lIns="0" tIns="0" rIns="0" bIns="0" rtlCol="0" anchor="t"/>
          <a:lstStyle/>
          <a:p>
            <a:pPr indent="0" marL="0">
              <a:lnSpc>
                <a:spcPct val="108000"/>
              </a:lnSpc>
              <a:buNone/>
            </a:pPr>
            <a:r>
              <a:rPr lang="en-US" sz="1300" dirty="0">
                <a:solidFill>
                  <a:srgbClr val="5A6F62"/>
                </a:solidFill>
                <a:latin typeface="Calibri" pitchFamily="34" charset="0"/>
                <a:ea typeface="Calibri" pitchFamily="34" charset="-122"/>
                <a:cs typeface="Calibri" pitchFamily="34" charset="-120"/>
              </a:rPr>
              <a:t>Sabemos dónde pusimos cada grano: la caja y la máscara salen exactas, sin error humano.</a:t>
            </a:r>
            <a:endParaRPr lang="en-US" sz="1300" dirty="0"/>
          </a:p>
        </p:txBody>
      </p:sp>
      <p:sp>
        <p:nvSpPr>
          <p:cNvPr id="10" name="Shape 7"/>
          <p:cNvSpPr/>
          <p:nvPr/>
        </p:nvSpPr>
        <p:spPr>
          <a:xfrm>
            <a:off x="6492240" y="2148840"/>
            <a:ext cx="5486400" cy="1417320"/>
          </a:xfrm>
          <a:prstGeom prst="roundRect">
            <a:avLst>
              <a:gd name="adj" fmla="val 6452"/>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1" name="Shape 8"/>
          <p:cNvSpPr/>
          <p:nvPr/>
        </p:nvSpPr>
        <p:spPr>
          <a:xfrm rot="480000">
            <a:off x="6812280" y="2468880"/>
            <a:ext cx="310896" cy="310896"/>
          </a:xfrm>
          <a:prstGeom prst="roundRect">
            <a:avLst>
              <a:gd name="adj" fmla="val 43478"/>
            </a:avLst>
          </a:prstGeom>
          <a:solidFill>
            <a:srgbClr val="C68A3E"/>
          </a:solidFill>
          <a:ln/>
        </p:spPr>
      </p:sp>
      <p:sp>
        <p:nvSpPr>
          <p:cNvPr id="12" name="Text 9"/>
          <p:cNvSpPr/>
          <p:nvPr/>
        </p:nvSpPr>
        <p:spPr>
          <a:xfrm>
            <a:off x="7360920" y="2404872"/>
            <a:ext cx="4389120" cy="411480"/>
          </a:xfrm>
          <a:prstGeom prst="rect">
            <a:avLst/>
          </a:prstGeom>
          <a:noFill/>
          <a:ln/>
        </p:spPr>
        <p:txBody>
          <a:bodyPr wrap="square" lIns="0" tIns="0" rIns="0" bIns="0" rtlCol="0" anchor="ctr"/>
          <a:lstStyle/>
          <a:p>
            <a:pPr indent="0" marL="0">
              <a:buNone/>
            </a:pPr>
            <a:r>
              <a:rPr lang="en-US" sz="1650" b="1" dirty="0">
                <a:solidFill>
                  <a:srgbClr val="16231C"/>
                </a:solidFill>
                <a:latin typeface="Calibri" pitchFamily="34" charset="0"/>
                <a:ea typeface="Calibri" pitchFamily="34" charset="-122"/>
                <a:cs typeface="Calibri" pitchFamily="34" charset="-120"/>
              </a:rPr>
              <a:t>Control de densidad y oclusión</a:t>
            </a:r>
            <a:endParaRPr lang="en-US" sz="1650" dirty="0"/>
          </a:p>
        </p:txBody>
      </p:sp>
      <p:sp>
        <p:nvSpPr>
          <p:cNvPr id="13" name="Text 10"/>
          <p:cNvSpPr/>
          <p:nvPr/>
        </p:nvSpPr>
        <p:spPr>
          <a:xfrm>
            <a:off x="7360920" y="2825496"/>
            <a:ext cx="4389120" cy="640080"/>
          </a:xfrm>
          <a:prstGeom prst="rect">
            <a:avLst/>
          </a:prstGeom>
          <a:noFill/>
          <a:ln/>
        </p:spPr>
        <p:txBody>
          <a:bodyPr wrap="square" lIns="0" tIns="0" rIns="0" bIns="0" rtlCol="0" anchor="t"/>
          <a:lstStyle/>
          <a:p>
            <a:pPr indent="0" marL="0">
              <a:lnSpc>
                <a:spcPct val="108000"/>
              </a:lnSpc>
              <a:buNone/>
            </a:pPr>
            <a:r>
              <a:rPr lang="en-US" sz="1300" dirty="0">
                <a:solidFill>
                  <a:srgbClr val="5A6F62"/>
                </a:solidFill>
                <a:latin typeface="Calibri" pitchFamily="34" charset="0"/>
                <a:ea typeface="Calibri" pitchFamily="34" charset="-122"/>
                <a:cs typeface="Calibri" pitchFamily="34" charset="-120"/>
              </a:rPr>
              <a:t>Definimos cuántos granos y cuánto se solapan. Forzamos al modelo a generalizar.</a:t>
            </a:r>
            <a:endParaRPr lang="en-US" sz="1300" dirty="0"/>
          </a:p>
        </p:txBody>
      </p:sp>
      <p:sp>
        <p:nvSpPr>
          <p:cNvPr id="14" name="Shape 11"/>
          <p:cNvSpPr/>
          <p:nvPr/>
        </p:nvSpPr>
        <p:spPr>
          <a:xfrm>
            <a:off x="457200" y="3886200"/>
            <a:ext cx="5486400" cy="1417320"/>
          </a:xfrm>
          <a:prstGeom prst="roundRect">
            <a:avLst>
              <a:gd name="adj" fmla="val 6452"/>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5" name="Shape 12"/>
          <p:cNvSpPr/>
          <p:nvPr/>
        </p:nvSpPr>
        <p:spPr>
          <a:xfrm rot="480000">
            <a:off x="777240" y="4206240"/>
            <a:ext cx="310896" cy="310896"/>
          </a:xfrm>
          <a:prstGeom prst="roundRect">
            <a:avLst>
              <a:gd name="adj" fmla="val 43478"/>
            </a:avLst>
          </a:prstGeom>
          <a:solidFill>
            <a:srgbClr val="C68A3E"/>
          </a:solidFill>
          <a:ln/>
        </p:spPr>
      </p:sp>
      <p:sp>
        <p:nvSpPr>
          <p:cNvPr id="16" name="Text 13"/>
          <p:cNvSpPr/>
          <p:nvPr/>
        </p:nvSpPr>
        <p:spPr>
          <a:xfrm>
            <a:off x="1325880" y="4142232"/>
            <a:ext cx="4389120" cy="411480"/>
          </a:xfrm>
          <a:prstGeom prst="rect">
            <a:avLst/>
          </a:prstGeom>
          <a:noFill/>
          <a:ln/>
        </p:spPr>
        <p:txBody>
          <a:bodyPr wrap="square" lIns="0" tIns="0" rIns="0" bIns="0" rtlCol="0" anchor="ctr"/>
          <a:lstStyle/>
          <a:p>
            <a:pPr indent="0" marL="0">
              <a:buNone/>
            </a:pPr>
            <a:r>
              <a:rPr lang="en-US" sz="1650" b="1" dirty="0">
                <a:solidFill>
                  <a:srgbClr val="16231C"/>
                </a:solidFill>
                <a:latin typeface="Calibri" pitchFamily="34" charset="0"/>
                <a:ea typeface="Calibri" pitchFamily="34" charset="-122"/>
                <a:cs typeface="Calibri" pitchFamily="34" charset="-120"/>
              </a:rPr>
              <a:t>Variabilidad infinita</a:t>
            </a:r>
            <a:endParaRPr lang="en-US" sz="1650" dirty="0"/>
          </a:p>
        </p:txBody>
      </p:sp>
      <p:sp>
        <p:nvSpPr>
          <p:cNvPr id="17" name="Text 14"/>
          <p:cNvSpPr/>
          <p:nvPr/>
        </p:nvSpPr>
        <p:spPr>
          <a:xfrm>
            <a:off x="1325880" y="4562856"/>
            <a:ext cx="4389120" cy="640080"/>
          </a:xfrm>
          <a:prstGeom prst="rect">
            <a:avLst/>
          </a:prstGeom>
          <a:noFill/>
          <a:ln/>
        </p:spPr>
        <p:txBody>
          <a:bodyPr wrap="square" lIns="0" tIns="0" rIns="0" bIns="0" rtlCol="0" anchor="t"/>
          <a:lstStyle/>
          <a:p>
            <a:pPr indent="0" marL="0">
              <a:lnSpc>
                <a:spcPct val="108000"/>
              </a:lnSpc>
              <a:buNone/>
            </a:pPr>
            <a:r>
              <a:rPr lang="en-US" sz="1300" dirty="0">
                <a:solidFill>
                  <a:srgbClr val="5A6F62"/>
                </a:solidFill>
                <a:latin typeface="Calibri" pitchFamily="34" charset="0"/>
                <a:ea typeface="Calibri" pitchFamily="34" charset="-122"/>
                <a:cs typeface="Calibri" pitchFamily="34" charset="-120"/>
              </a:rPr>
              <a:t>Rotación, escala, color y madurez aleatorios por grano simulan la variación biológica.</a:t>
            </a:r>
            <a:endParaRPr lang="en-US" sz="1300" dirty="0"/>
          </a:p>
        </p:txBody>
      </p:sp>
      <p:sp>
        <p:nvSpPr>
          <p:cNvPr id="18" name="Shape 15"/>
          <p:cNvSpPr/>
          <p:nvPr/>
        </p:nvSpPr>
        <p:spPr>
          <a:xfrm>
            <a:off x="6492240" y="3886200"/>
            <a:ext cx="5486400" cy="1417320"/>
          </a:xfrm>
          <a:prstGeom prst="roundRect">
            <a:avLst>
              <a:gd name="adj" fmla="val 6452"/>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9" name="Shape 16"/>
          <p:cNvSpPr/>
          <p:nvPr/>
        </p:nvSpPr>
        <p:spPr>
          <a:xfrm rot="480000">
            <a:off x="6812280" y="4206240"/>
            <a:ext cx="310896" cy="310896"/>
          </a:xfrm>
          <a:prstGeom prst="roundRect">
            <a:avLst>
              <a:gd name="adj" fmla="val 43478"/>
            </a:avLst>
          </a:prstGeom>
          <a:solidFill>
            <a:srgbClr val="C68A3E"/>
          </a:solidFill>
          <a:ln/>
        </p:spPr>
      </p:sp>
      <p:sp>
        <p:nvSpPr>
          <p:cNvPr id="20" name="Text 17"/>
          <p:cNvSpPr/>
          <p:nvPr/>
        </p:nvSpPr>
        <p:spPr>
          <a:xfrm>
            <a:off x="7360920" y="4142232"/>
            <a:ext cx="4389120" cy="411480"/>
          </a:xfrm>
          <a:prstGeom prst="rect">
            <a:avLst/>
          </a:prstGeom>
          <a:noFill/>
          <a:ln/>
        </p:spPr>
        <p:txBody>
          <a:bodyPr wrap="square" lIns="0" tIns="0" rIns="0" bIns="0" rtlCol="0" anchor="ctr"/>
          <a:lstStyle/>
          <a:p>
            <a:pPr indent="0" marL="0">
              <a:buNone/>
            </a:pPr>
            <a:r>
              <a:rPr lang="en-US" sz="1650" b="1" dirty="0">
                <a:solidFill>
                  <a:srgbClr val="16231C"/>
                </a:solidFill>
                <a:latin typeface="Calibri" pitchFamily="34" charset="0"/>
                <a:ea typeface="Calibri" pitchFamily="34" charset="-122"/>
                <a:cs typeface="Calibri" pitchFamily="34" charset="-120"/>
              </a:rPr>
              <a:t>Costo marginal ≈ 0</a:t>
            </a:r>
            <a:endParaRPr lang="en-US" sz="1650" dirty="0"/>
          </a:p>
        </p:txBody>
      </p:sp>
      <p:sp>
        <p:nvSpPr>
          <p:cNvPr id="21" name="Text 18"/>
          <p:cNvSpPr/>
          <p:nvPr/>
        </p:nvSpPr>
        <p:spPr>
          <a:xfrm>
            <a:off x="7360920" y="4562856"/>
            <a:ext cx="4389120" cy="640080"/>
          </a:xfrm>
          <a:prstGeom prst="rect">
            <a:avLst/>
          </a:prstGeom>
          <a:noFill/>
          <a:ln/>
        </p:spPr>
        <p:txBody>
          <a:bodyPr wrap="square" lIns="0" tIns="0" rIns="0" bIns="0" rtlCol="0" anchor="t"/>
          <a:lstStyle/>
          <a:p>
            <a:pPr indent="0" marL="0">
              <a:lnSpc>
                <a:spcPct val="108000"/>
              </a:lnSpc>
              <a:buNone/>
            </a:pPr>
            <a:r>
              <a:rPr lang="en-US" sz="1300" dirty="0">
                <a:solidFill>
                  <a:srgbClr val="5A6F62"/>
                </a:solidFill>
                <a:latin typeface="Calibri" pitchFamily="34" charset="0"/>
                <a:ea typeface="Calibri" pitchFamily="34" charset="-122"/>
                <a:cs typeface="Calibri" pitchFamily="34" charset="-120"/>
              </a:rPr>
              <a:t>Una vez armado el pipeline, generar 10.000 imágenes etiquetadas es cuestión de minutos.</a:t>
            </a:r>
            <a:endParaRPr lang="en-US" sz="1300" dirty="0"/>
          </a:p>
        </p:txBody>
      </p:sp>
      <p:sp>
        <p:nvSpPr>
          <p:cNvPr id="22" name="Text 1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3" name="Text 20"/>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1A"/>
        </a:solidFill>
      </p:bgPr>
    </p:bg>
    <p:spTree>
      <p:nvGrpSpPr>
        <p:cNvPr id="1" name=""/>
        <p:cNvGrpSpPr/>
        <p:nvPr/>
      </p:nvGrpSpPr>
      <p:grpSpPr>
        <a:xfrm>
          <a:off x="0" y="0"/>
          <a:ext cx="0" cy="0"/>
          <a:chOff x="0" y="0"/>
          <a:chExt cx="0" cy="0"/>
        </a:xfrm>
      </p:grpSpPr>
      <p:pic>
        <p:nvPicPr>
          <p:cNvPr id="2" name="Image 0" descr="/home/claude/poroto_cv/docs/deck_assets/bg_sparse_clean.jpg">    </p:cNvPr>
          <p:cNvPicPr>
            <a:picLocks noChangeAspect="1"/>
          </p:cNvPicPr>
          <p:nvPr/>
        </p:nvPicPr>
        <p:blipFill>
          <a:blip r:embed="rId1">
            <a:alphaModFix amt="78000"/>
          </a:blip>
          <a:srcRect l="0" r="0" t="0" b="0"/>
          <a:stretch/>
        </p:blipFill>
        <p:spPr>
          <a:xfrm>
            <a:off x="7955280" y="0"/>
            <a:ext cx="6858000" cy="6858000"/>
          </a:xfrm>
          <a:prstGeom prst="rect">
            <a:avLst/>
          </a:prstGeom>
        </p:spPr>
      </p:pic>
      <p:sp>
        <p:nvSpPr>
          <p:cNvPr id="3" name="Shape 0"/>
          <p:cNvSpPr/>
          <p:nvPr/>
        </p:nvSpPr>
        <p:spPr>
          <a:xfrm>
            <a:off x="7955280" y="0"/>
            <a:ext cx="4206240" cy="6858000"/>
          </a:xfrm>
          <a:prstGeom prst="rect">
            <a:avLst/>
          </a:prstGeom>
          <a:solidFill>
            <a:srgbClr val="14201A">
              <a:alpha val="62000"/>
            </a:srgbClr>
          </a:solidFill>
          <a:ln/>
        </p:spPr>
      </p:sp>
      <p:sp>
        <p:nvSpPr>
          <p:cNvPr id="4" name="Shape 1"/>
          <p:cNvSpPr/>
          <p:nvPr/>
        </p:nvSpPr>
        <p:spPr>
          <a:xfrm rot="480000">
            <a:off x="777240" y="1143000"/>
            <a:ext cx="457200" cy="457200"/>
          </a:xfrm>
          <a:prstGeom prst="roundRect">
            <a:avLst>
              <a:gd name="adj" fmla="val 43478"/>
            </a:avLst>
          </a:prstGeom>
          <a:solidFill>
            <a:srgbClr val="D8A657"/>
          </a:solidFill>
          <a:ln/>
        </p:spPr>
      </p:sp>
      <p:sp>
        <p:nvSpPr>
          <p:cNvPr id="6" name="Text 2"/>
          <p:cNvSpPr/>
          <p:nvPr/>
        </p:nvSpPr>
        <p:spPr>
          <a:xfrm>
            <a:off x="1371600" y="1161288"/>
            <a:ext cx="6400800" cy="365760"/>
          </a:xfrm>
          <a:prstGeom prst="rect">
            <a:avLst/>
          </a:prstGeom>
          <a:noFill/>
          <a:ln/>
        </p:spPr>
        <p:txBody>
          <a:bodyPr wrap="square" lIns="0" tIns="0" rIns="0" bIns="0" rtlCol="0" anchor="ctr"/>
          <a:lstStyle/>
          <a:p>
            <a:pPr indent="0" marL="0">
              <a:buNone/>
            </a:pPr>
            <a:r>
              <a:rPr lang="en-US" sz="1300" b="1" spc="300" kern="0" dirty="0">
                <a:solidFill>
                  <a:srgbClr val="D8A657"/>
                </a:solidFill>
                <a:latin typeface="Calibri" pitchFamily="34" charset="0"/>
                <a:ea typeface="Calibri" pitchFamily="34" charset="-122"/>
                <a:cs typeface="Calibri" pitchFamily="34" charset="-120"/>
              </a:rPr>
              <a:t>EL MOTOR DE DATOS</a:t>
            </a:r>
            <a:endParaRPr lang="en-US" sz="1300" dirty="0"/>
          </a:p>
        </p:txBody>
      </p:sp>
      <p:sp>
        <p:nvSpPr>
          <p:cNvPr id="7" name="Text 3"/>
          <p:cNvSpPr/>
          <p:nvPr/>
        </p:nvSpPr>
        <p:spPr>
          <a:xfrm>
            <a:off x="777240" y="1691640"/>
            <a:ext cx="7315200" cy="9144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Generación sintética en 4 fases</a:t>
            </a:r>
            <a:endParaRPr lang="en-US" sz="3400" dirty="0"/>
          </a:p>
        </p:txBody>
      </p:sp>
      <p:sp>
        <p:nvSpPr>
          <p:cNvPr id="8" name="Text 4"/>
          <p:cNvSpPr/>
          <p:nvPr/>
        </p:nvSpPr>
        <p:spPr>
          <a:xfrm>
            <a:off x="822960" y="2743200"/>
            <a:ext cx="2834640" cy="457200"/>
          </a:xfrm>
          <a:prstGeom prst="rect">
            <a:avLst/>
          </a:prstGeom>
          <a:noFill/>
          <a:ln/>
        </p:spPr>
        <p:txBody>
          <a:bodyPr wrap="square" lIns="0" tIns="0" rIns="0" bIns="0" rtlCol="0" anchor="ctr"/>
          <a:lstStyle/>
          <a:p>
            <a:pPr indent="0" marL="0">
              <a:buNone/>
            </a:pPr>
            <a:r>
              <a:rPr lang="en-US" sz="1700" b="1" dirty="0">
                <a:solidFill>
                  <a:srgbClr val="D8A657"/>
                </a:solidFill>
                <a:latin typeface="Calibri" pitchFamily="34" charset="0"/>
                <a:ea typeface="Calibri" pitchFamily="34" charset="-122"/>
                <a:cs typeface="Calibri" pitchFamily="34" charset="-120"/>
              </a:rPr>
              <a:t>1 · Extracción</a:t>
            </a:r>
            <a:endParaRPr lang="en-US" sz="1700" dirty="0"/>
          </a:p>
        </p:txBody>
      </p:sp>
      <p:sp>
        <p:nvSpPr>
          <p:cNvPr id="9" name="Text 5"/>
          <p:cNvSpPr/>
          <p:nvPr/>
        </p:nvSpPr>
        <p:spPr>
          <a:xfrm>
            <a:off x="3566160" y="2770632"/>
            <a:ext cx="4206240" cy="548640"/>
          </a:xfrm>
          <a:prstGeom prst="rect">
            <a:avLst/>
          </a:prstGeom>
          <a:noFill/>
          <a:ln/>
        </p:spPr>
        <p:txBody>
          <a:bodyPr wrap="square" lIns="0" tIns="0" rIns="0" bIns="0" rtlCol="0" anchor="t"/>
          <a:lstStyle/>
          <a:p>
            <a:pPr indent="0" marL="0">
              <a:lnSpc>
                <a:spcPct val="105000"/>
              </a:lnSpc>
              <a:buNone/>
            </a:pPr>
            <a:r>
              <a:rPr lang="en-US" sz="1300" dirty="0">
                <a:solidFill>
                  <a:srgbClr val="CFE0D4"/>
                </a:solidFill>
                <a:latin typeface="Calibri" pitchFamily="34" charset="0"/>
                <a:ea typeface="Calibri" pitchFamily="34" charset="-122"/>
                <a:cs typeface="Calibri" pitchFamily="34" charset="-120"/>
              </a:rPr>
              <a:t>aislar el grano y estandarizarlo (máscara alfa + recorte)</a:t>
            </a:r>
            <a:endParaRPr lang="en-US" sz="1300" dirty="0"/>
          </a:p>
        </p:txBody>
      </p:sp>
      <p:sp>
        <p:nvSpPr>
          <p:cNvPr id="10" name="Text 6"/>
          <p:cNvSpPr/>
          <p:nvPr/>
        </p:nvSpPr>
        <p:spPr>
          <a:xfrm>
            <a:off x="822960" y="3584448"/>
            <a:ext cx="2834640" cy="457200"/>
          </a:xfrm>
          <a:prstGeom prst="rect">
            <a:avLst/>
          </a:prstGeom>
          <a:noFill/>
          <a:ln/>
        </p:spPr>
        <p:txBody>
          <a:bodyPr wrap="square" lIns="0" tIns="0" rIns="0" bIns="0" rtlCol="0" anchor="ctr"/>
          <a:lstStyle/>
          <a:p>
            <a:pPr indent="0" marL="0">
              <a:buNone/>
            </a:pPr>
            <a:r>
              <a:rPr lang="en-US" sz="1700" b="1" dirty="0">
                <a:solidFill>
                  <a:srgbClr val="D8A657"/>
                </a:solidFill>
                <a:latin typeface="Calibri" pitchFamily="34" charset="0"/>
                <a:ea typeface="Calibri" pitchFamily="34" charset="-122"/>
                <a:cs typeface="Calibri" pitchFamily="34" charset="-120"/>
              </a:rPr>
              <a:t>2 · Aumentación</a:t>
            </a:r>
            <a:endParaRPr lang="en-US" sz="1700" dirty="0"/>
          </a:p>
        </p:txBody>
      </p:sp>
      <p:sp>
        <p:nvSpPr>
          <p:cNvPr id="11" name="Text 7"/>
          <p:cNvSpPr/>
          <p:nvPr/>
        </p:nvSpPr>
        <p:spPr>
          <a:xfrm>
            <a:off x="3566160" y="3611880"/>
            <a:ext cx="4206240" cy="548640"/>
          </a:xfrm>
          <a:prstGeom prst="rect">
            <a:avLst/>
          </a:prstGeom>
          <a:noFill/>
          <a:ln/>
        </p:spPr>
        <p:txBody>
          <a:bodyPr wrap="square" lIns="0" tIns="0" rIns="0" bIns="0" rtlCol="0" anchor="t"/>
          <a:lstStyle/>
          <a:p>
            <a:pPr indent="0" marL="0">
              <a:lnSpc>
                <a:spcPct val="105000"/>
              </a:lnSpc>
              <a:buNone/>
            </a:pPr>
            <a:r>
              <a:rPr lang="en-US" sz="1300" dirty="0">
                <a:solidFill>
                  <a:srgbClr val="CFE0D4"/>
                </a:solidFill>
                <a:latin typeface="Calibri" pitchFamily="34" charset="0"/>
                <a:ea typeface="Calibri" pitchFamily="34" charset="-122"/>
                <a:cs typeface="Calibri" pitchFamily="34" charset="-120"/>
              </a:rPr>
              <a:t>variar cada grano: geometría + fotometría (HSV)</a:t>
            </a:r>
            <a:endParaRPr lang="en-US" sz="1300" dirty="0"/>
          </a:p>
        </p:txBody>
      </p:sp>
      <p:sp>
        <p:nvSpPr>
          <p:cNvPr id="12" name="Text 8"/>
          <p:cNvSpPr/>
          <p:nvPr/>
        </p:nvSpPr>
        <p:spPr>
          <a:xfrm>
            <a:off x="822960" y="4425696"/>
            <a:ext cx="2834640" cy="457200"/>
          </a:xfrm>
          <a:prstGeom prst="rect">
            <a:avLst/>
          </a:prstGeom>
          <a:noFill/>
          <a:ln/>
        </p:spPr>
        <p:txBody>
          <a:bodyPr wrap="square" lIns="0" tIns="0" rIns="0" bIns="0" rtlCol="0" anchor="ctr"/>
          <a:lstStyle/>
          <a:p>
            <a:pPr indent="0" marL="0">
              <a:buNone/>
            </a:pPr>
            <a:r>
              <a:rPr lang="en-US" sz="1700" b="1" dirty="0">
                <a:solidFill>
                  <a:srgbClr val="D8A657"/>
                </a:solidFill>
                <a:latin typeface="Calibri" pitchFamily="34" charset="0"/>
                <a:ea typeface="Calibri" pitchFamily="34" charset="-122"/>
                <a:cs typeface="Calibri" pitchFamily="34" charset="-120"/>
              </a:rPr>
              <a:t>3 · Composición</a:t>
            </a:r>
            <a:endParaRPr lang="en-US" sz="1700" dirty="0"/>
          </a:p>
        </p:txBody>
      </p:sp>
      <p:sp>
        <p:nvSpPr>
          <p:cNvPr id="13" name="Text 9"/>
          <p:cNvSpPr/>
          <p:nvPr/>
        </p:nvSpPr>
        <p:spPr>
          <a:xfrm>
            <a:off x="3566160" y="4453128"/>
            <a:ext cx="4206240" cy="548640"/>
          </a:xfrm>
          <a:prstGeom prst="rect">
            <a:avLst/>
          </a:prstGeom>
          <a:noFill/>
          <a:ln/>
        </p:spPr>
        <p:txBody>
          <a:bodyPr wrap="square" lIns="0" tIns="0" rIns="0" bIns="0" rtlCol="0" anchor="t"/>
          <a:lstStyle/>
          <a:p>
            <a:pPr indent="0" marL="0">
              <a:lnSpc>
                <a:spcPct val="105000"/>
              </a:lnSpc>
              <a:buNone/>
            </a:pPr>
            <a:r>
              <a:rPr lang="en-US" sz="1300" dirty="0">
                <a:solidFill>
                  <a:srgbClr val="CFE0D4"/>
                </a:solidFill>
                <a:latin typeface="Calibri" pitchFamily="34" charset="0"/>
                <a:ea typeface="Calibri" pitchFamily="34" charset="-122"/>
                <a:cs typeface="Calibri" pitchFamily="34" charset="-120"/>
              </a:rPr>
              <a:t>armar la escena con oclusión controlada y generar el ground truth</a:t>
            </a:r>
            <a:endParaRPr lang="en-US" sz="1300" dirty="0"/>
          </a:p>
        </p:txBody>
      </p:sp>
      <p:sp>
        <p:nvSpPr>
          <p:cNvPr id="14" name="Text 10"/>
          <p:cNvSpPr/>
          <p:nvPr/>
        </p:nvSpPr>
        <p:spPr>
          <a:xfrm>
            <a:off x="822960" y="5266944"/>
            <a:ext cx="2834640" cy="457200"/>
          </a:xfrm>
          <a:prstGeom prst="rect">
            <a:avLst/>
          </a:prstGeom>
          <a:noFill/>
          <a:ln/>
        </p:spPr>
        <p:txBody>
          <a:bodyPr wrap="square" lIns="0" tIns="0" rIns="0" bIns="0" rtlCol="0" anchor="ctr"/>
          <a:lstStyle/>
          <a:p>
            <a:pPr indent="0" marL="0">
              <a:buNone/>
            </a:pPr>
            <a:r>
              <a:rPr lang="en-US" sz="1700" b="1" dirty="0">
                <a:solidFill>
                  <a:srgbClr val="D8A657"/>
                </a:solidFill>
                <a:latin typeface="Calibri" pitchFamily="34" charset="0"/>
                <a:ea typeface="Calibri" pitchFamily="34" charset="-122"/>
                <a:cs typeface="Calibri" pitchFamily="34" charset="-120"/>
              </a:rPr>
              <a:t>4 · Postproceso</a:t>
            </a:r>
            <a:endParaRPr lang="en-US" sz="1700" dirty="0"/>
          </a:p>
        </p:txBody>
      </p:sp>
      <p:sp>
        <p:nvSpPr>
          <p:cNvPr id="15" name="Text 11"/>
          <p:cNvSpPr/>
          <p:nvPr/>
        </p:nvSpPr>
        <p:spPr>
          <a:xfrm>
            <a:off x="3566160" y="5294376"/>
            <a:ext cx="4206240" cy="548640"/>
          </a:xfrm>
          <a:prstGeom prst="rect">
            <a:avLst/>
          </a:prstGeom>
          <a:noFill/>
          <a:ln/>
        </p:spPr>
        <p:txBody>
          <a:bodyPr wrap="square" lIns="0" tIns="0" rIns="0" bIns="0" rtlCol="0" anchor="t"/>
          <a:lstStyle/>
          <a:p>
            <a:pPr indent="0" marL="0">
              <a:lnSpc>
                <a:spcPct val="105000"/>
              </a:lnSpc>
              <a:buNone/>
            </a:pPr>
            <a:r>
              <a:rPr lang="en-US" sz="1300" dirty="0">
                <a:solidFill>
                  <a:srgbClr val="CFE0D4"/>
                </a:solidFill>
                <a:latin typeface="Calibri" pitchFamily="34" charset="0"/>
                <a:ea typeface="Calibri" pitchFamily="34" charset="-122"/>
                <a:cs typeface="Calibri" pitchFamily="34" charset="-120"/>
              </a:rPr>
              <a:t>unificar la firma óptica: desenfoque + ruido de sensor</a:t>
            </a:r>
            <a:endParaRPr lang="en-US" sz="1300" dirty="0"/>
          </a:p>
        </p:txBody>
      </p:sp>
      <p:sp>
        <p:nvSpPr>
          <p:cNvPr id="16" name="Text 1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7" name="Text 13"/>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FASES 1 Y 2</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Del grano crudo al grano variado</a:t>
            </a:r>
            <a:endParaRPr lang="en-US" sz="3000" dirty="0"/>
          </a:p>
        </p:txBody>
      </p:sp>
      <p:sp>
        <p:nvSpPr>
          <p:cNvPr id="6" name="Text 3"/>
          <p:cNvSpPr/>
          <p:nvPr/>
        </p:nvSpPr>
        <p:spPr>
          <a:xfrm>
            <a:off x="457200" y="1783080"/>
            <a:ext cx="5486400" cy="365760"/>
          </a:xfrm>
          <a:prstGeom prst="rect">
            <a:avLst/>
          </a:prstGeom>
          <a:noFill/>
          <a:ln/>
        </p:spPr>
        <p:txBody>
          <a:bodyPr wrap="square" lIns="0" tIns="0" rIns="0" bIns="0" rtlCol="0" anchor="ctr"/>
          <a:lstStyle/>
          <a:p>
            <a:pPr indent="0" marL="0">
              <a:buNone/>
            </a:pPr>
            <a:r>
              <a:rPr lang="en-US" sz="1700" b="1" dirty="0">
                <a:solidFill>
                  <a:srgbClr val="2F7D52"/>
                </a:solidFill>
                <a:latin typeface="Calibri" pitchFamily="34" charset="0"/>
                <a:ea typeface="Calibri" pitchFamily="34" charset="-122"/>
                <a:cs typeface="Calibri" pitchFamily="34" charset="-120"/>
              </a:rPr>
              <a:t>Fase 1 · Extracción</a:t>
            </a:r>
            <a:endParaRPr lang="en-US" sz="1700" dirty="0"/>
          </a:p>
        </p:txBody>
      </p:sp>
      <p:sp>
        <p:nvSpPr>
          <p:cNvPr id="7" name="Text 4"/>
          <p:cNvSpPr/>
          <p:nvPr/>
        </p:nvSpPr>
        <p:spPr>
          <a:xfrm>
            <a:off x="548640" y="2194560"/>
            <a:ext cx="5760720" cy="1371600"/>
          </a:xfrm>
          <a:prstGeom prst="rect">
            <a:avLst/>
          </a:prstGeom>
          <a:noFill/>
          <a:ln/>
        </p:spPr>
        <p:txBody>
          <a:bodyPr wrap="square" rtlCol="0" anchor="t"/>
          <a:lstStyle/>
          <a:p>
            <a:pPr marL="342900" indent="-342900">
              <a:spcAft>
                <a:spcPts val="600"/>
              </a:spcAft>
              <a:buSzPct val="100000"/>
              <a:buChar char="•"/>
            </a:pPr>
            <a:r>
              <a:rPr lang="en-US" sz="1350" dirty="0">
                <a:solidFill>
                  <a:srgbClr val="5A6F62"/>
                </a:solidFill>
                <a:latin typeface="Calibri" pitchFamily="34" charset="0"/>
                <a:ea typeface="Calibri" pitchFamily="34" charset="-122"/>
                <a:cs typeface="Calibri" pitchFamily="34" charset="-120"/>
              </a:rPr>
              <a:t>Umbralizado Otsu sobre luminancia → máscara binaria.</a:t>
            </a:r>
            <a:endParaRPr lang="en-US" sz="1350" dirty="0"/>
          </a:p>
          <a:p>
            <a:pPr marL="342900" indent="-342900">
              <a:spcAft>
                <a:spcPts val="600"/>
              </a:spcAft>
              <a:buSzPct val="100000"/>
              <a:buChar char="•"/>
            </a:pPr>
            <a:r>
              <a:rPr lang="en-US" sz="1350" dirty="0">
                <a:solidFill>
                  <a:srgbClr val="5A6F62"/>
                </a:solidFill>
                <a:latin typeface="Calibri" pitchFamily="34" charset="0"/>
                <a:ea typeface="Calibri" pitchFamily="34" charset="-122"/>
                <a:cs typeface="Calibri" pitchFamily="34" charset="-120"/>
              </a:rPr>
              <a:t>La máscara va al canal alfa (grano opaco, fondo transparente).</a:t>
            </a:r>
            <a:endParaRPr lang="en-US" sz="1350" dirty="0"/>
          </a:p>
          <a:p>
            <a:pPr marL="342900" indent="-342900">
              <a:spcAft>
                <a:spcPts val="600"/>
              </a:spcAft>
              <a:buSzPct val="100000"/>
              <a:buChar char="•"/>
            </a:pPr>
            <a:r>
              <a:rPr lang="en-US" sz="1350" dirty="0">
                <a:solidFill>
                  <a:srgbClr val="5A6F62"/>
                </a:solidFill>
                <a:latin typeface="Calibri" pitchFamily="34" charset="0"/>
                <a:ea typeface="Calibri" pitchFamily="34" charset="-122"/>
                <a:cs typeface="Calibri" pitchFamily="34" charset="-120"/>
              </a:rPr>
              <a:t>Recorte a la bounding box → grano RGBA compacto.</a:t>
            </a:r>
            <a:endParaRPr lang="en-US" sz="1350" dirty="0"/>
          </a:p>
        </p:txBody>
      </p:sp>
      <p:sp>
        <p:nvSpPr>
          <p:cNvPr id="8" name="Text 5"/>
          <p:cNvSpPr/>
          <p:nvPr/>
        </p:nvSpPr>
        <p:spPr>
          <a:xfrm>
            <a:off x="457200" y="3657600"/>
            <a:ext cx="5486400" cy="365760"/>
          </a:xfrm>
          <a:prstGeom prst="rect">
            <a:avLst/>
          </a:prstGeom>
          <a:noFill/>
          <a:ln/>
        </p:spPr>
        <p:txBody>
          <a:bodyPr wrap="square" lIns="0" tIns="0" rIns="0" bIns="0" rtlCol="0" anchor="ctr"/>
          <a:lstStyle/>
          <a:p>
            <a:pPr indent="0" marL="0">
              <a:buNone/>
            </a:pPr>
            <a:r>
              <a:rPr lang="en-US" sz="1700" b="1" dirty="0">
                <a:solidFill>
                  <a:srgbClr val="2F7D52"/>
                </a:solidFill>
                <a:latin typeface="Calibri" pitchFamily="34" charset="0"/>
                <a:ea typeface="Calibri" pitchFamily="34" charset="-122"/>
                <a:cs typeface="Calibri" pitchFamily="34" charset="-120"/>
              </a:rPr>
              <a:t>Fase 2 · Aumentación por grano</a:t>
            </a:r>
            <a:endParaRPr lang="en-US" sz="1700" dirty="0"/>
          </a:p>
        </p:txBody>
      </p:sp>
      <p:sp>
        <p:nvSpPr>
          <p:cNvPr id="9" name="Text 6"/>
          <p:cNvSpPr/>
          <p:nvPr/>
        </p:nvSpPr>
        <p:spPr>
          <a:xfrm>
            <a:off x="548640" y="4069080"/>
            <a:ext cx="5760720" cy="1371600"/>
          </a:xfrm>
          <a:prstGeom prst="rect">
            <a:avLst/>
          </a:prstGeom>
          <a:noFill/>
          <a:ln/>
        </p:spPr>
        <p:txBody>
          <a:bodyPr wrap="square" rtlCol="0" anchor="t"/>
          <a:lstStyle/>
          <a:p>
            <a:pPr marL="342900" indent="-342900">
              <a:spcAft>
                <a:spcPts val="600"/>
              </a:spcAft>
              <a:buSzPct val="100000"/>
              <a:buChar char="•"/>
            </a:pPr>
            <a:r>
              <a:rPr lang="en-US" sz="1350" dirty="0">
                <a:solidFill>
                  <a:srgbClr val="5A6F62"/>
                </a:solidFill>
                <a:latin typeface="Calibri" pitchFamily="34" charset="0"/>
                <a:ea typeface="Calibri" pitchFamily="34" charset="-122"/>
                <a:cs typeface="Calibri" pitchFamily="34" charset="-120"/>
              </a:rPr>
              <a:t>Geométrica: rotación 0–360°, escala 0.8–1.2×, flips.</a:t>
            </a:r>
            <a:endParaRPr lang="en-US" sz="1350" dirty="0"/>
          </a:p>
          <a:p>
            <a:pPr marL="342900" indent="-342900">
              <a:spcAft>
                <a:spcPts val="600"/>
              </a:spcAft>
              <a:buSzPct val="100000"/>
              <a:buChar char="•"/>
            </a:pPr>
            <a:r>
              <a:rPr lang="en-US" sz="1350" dirty="0">
                <a:solidFill>
                  <a:srgbClr val="5A6F62"/>
                </a:solidFill>
                <a:latin typeface="Calibri" pitchFamily="34" charset="0"/>
                <a:ea typeface="Calibri" pitchFamily="34" charset="-122"/>
                <a:cs typeface="Calibri" pitchFamily="34" charset="-120"/>
              </a:rPr>
              <a:t>Fotométrica: jitter en HSV (madurez, humedad, iluminación).</a:t>
            </a:r>
            <a:endParaRPr lang="en-US" sz="1350" dirty="0"/>
          </a:p>
          <a:p>
            <a:pPr marL="342900" indent="-342900">
              <a:spcAft>
                <a:spcPts val="600"/>
              </a:spcAft>
              <a:buSzPct val="100000"/>
              <a:buChar char="•"/>
            </a:pPr>
            <a:r>
              <a:rPr lang="en-US" sz="1350" dirty="0">
                <a:solidFill>
                  <a:srgbClr val="5A6F62"/>
                </a:solidFill>
                <a:latin typeface="Calibri" pitchFamily="34" charset="0"/>
                <a:ea typeface="Calibri" pitchFamily="34" charset="-122"/>
                <a:cs typeface="Calibri" pitchFamily="34" charset="-120"/>
              </a:rPr>
              <a:t>Cada inserción es un grano distinto → evita sesgos.</a:t>
            </a:r>
            <a:endParaRPr lang="en-US" sz="1350" dirty="0"/>
          </a:p>
        </p:txBody>
      </p:sp>
      <p:sp>
        <p:nvSpPr>
          <p:cNvPr id="10" name="Shape 7"/>
          <p:cNvSpPr/>
          <p:nvPr/>
        </p:nvSpPr>
        <p:spPr>
          <a:xfrm>
            <a:off x="6629400" y="2331720"/>
            <a:ext cx="5212080" cy="4023360"/>
          </a:xfrm>
          <a:prstGeom prst="roundRect">
            <a:avLst>
              <a:gd name="adj" fmla="val 2273"/>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pic>
        <p:nvPicPr>
          <p:cNvPr id="11" name="Image 0" descr="/home/claude/poroto_cv/docs/deck_assets/augment_grid.jpg">    </p:cNvPr>
          <p:cNvPicPr>
            <a:picLocks noChangeAspect="1"/>
          </p:cNvPicPr>
          <p:nvPr/>
        </p:nvPicPr>
        <p:blipFill>
          <a:blip r:embed="rId1"/>
          <a:stretch>
            <a:fillRect/>
          </a:stretch>
        </p:blipFill>
        <p:spPr>
          <a:xfrm>
            <a:off x="6766560" y="2468880"/>
            <a:ext cx="4937760" cy="3291840"/>
          </a:xfrm>
          <a:prstGeom prst="rect">
            <a:avLst/>
          </a:prstGeom>
        </p:spPr>
      </p:pic>
      <p:sp>
        <p:nvSpPr>
          <p:cNvPr id="12" name="Text 8"/>
          <p:cNvSpPr/>
          <p:nvPr/>
        </p:nvSpPr>
        <p:spPr>
          <a:xfrm>
            <a:off x="6766560" y="5779008"/>
            <a:ext cx="4937760" cy="365760"/>
          </a:xfrm>
          <a:prstGeom prst="rect">
            <a:avLst/>
          </a:prstGeom>
          <a:noFill/>
          <a:ln/>
        </p:spPr>
        <p:txBody>
          <a:bodyPr wrap="square" lIns="0" tIns="0" rIns="0" bIns="0" rtlCol="0" anchor="ctr"/>
          <a:lstStyle/>
          <a:p>
            <a:pPr algn="ctr" indent="0" marL="0">
              <a:buNone/>
            </a:pPr>
            <a:r>
              <a:rPr lang="en-US" sz="1150" i="1" dirty="0">
                <a:solidFill>
                  <a:srgbClr val="5A6F62"/>
                </a:solidFill>
                <a:latin typeface="Calibri" pitchFamily="34" charset="0"/>
                <a:ea typeface="Calibri" pitchFamily="34" charset="-122"/>
                <a:cs typeface="Calibri" pitchFamily="34" charset="-120"/>
              </a:rPr>
              <a:t>Un mismo grano, 6 variantes generadas automáticamente</a:t>
            </a:r>
            <a:endParaRPr lang="en-US" sz="1150" dirty="0"/>
          </a:p>
        </p:txBody>
      </p:sp>
      <p:sp>
        <p:nvSpPr>
          <p:cNvPr id="13"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4" name="Text 10"/>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FASE 3</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Composición y ground truth automático</a:t>
            </a:r>
            <a:endParaRPr lang="en-US" sz="3000" dirty="0"/>
          </a:p>
        </p:txBody>
      </p:sp>
      <p:sp>
        <p:nvSpPr>
          <p:cNvPr id="6" name="Shape 3"/>
          <p:cNvSpPr/>
          <p:nvPr/>
        </p:nvSpPr>
        <p:spPr>
          <a:xfrm>
            <a:off x="457200" y="1828800"/>
            <a:ext cx="4572000" cy="4572000"/>
          </a:xfrm>
          <a:prstGeom prst="roundRect">
            <a:avLst>
              <a:gd name="adj" fmla="val 200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pic>
        <p:nvPicPr>
          <p:cNvPr id="7" name="Image 0" descr="/home/claude/poroto_cv/docs/deck_assets/synth_sparse_gt.jpg">    </p:cNvPr>
          <p:cNvPicPr>
            <a:picLocks noChangeAspect="1"/>
          </p:cNvPicPr>
          <p:nvPr/>
        </p:nvPicPr>
        <p:blipFill>
          <a:blip r:embed="rId1"/>
          <a:stretch>
            <a:fillRect/>
          </a:stretch>
        </p:blipFill>
        <p:spPr>
          <a:xfrm>
            <a:off x="594360" y="1965960"/>
            <a:ext cx="4297680" cy="4297680"/>
          </a:xfrm>
          <a:prstGeom prst="rect">
            <a:avLst/>
          </a:prstGeom>
        </p:spPr>
      </p:pic>
      <p:sp>
        <p:nvSpPr>
          <p:cNvPr id="8" name="Text 4"/>
          <p:cNvSpPr/>
          <p:nvPr/>
        </p:nvSpPr>
        <p:spPr>
          <a:xfrm>
            <a:off x="457200" y="6419088"/>
            <a:ext cx="4572000" cy="365760"/>
          </a:xfrm>
          <a:prstGeom prst="rect">
            <a:avLst/>
          </a:prstGeom>
          <a:noFill/>
          <a:ln/>
        </p:spPr>
        <p:txBody>
          <a:bodyPr wrap="square" rtlCol="0" anchor="ctr"/>
          <a:lstStyle/>
          <a:p>
            <a:pPr algn="ctr" indent="0" marL="0">
              <a:buNone/>
            </a:pPr>
            <a:r>
              <a:rPr lang="en-US" sz="1150" i="1" dirty="0">
                <a:solidFill>
                  <a:srgbClr val="5A6F62"/>
                </a:solidFill>
                <a:latin typeface="Calibri" pitchFamily="34" charset="0"/>
                <a:ea typeface="Calibri" pitchFamily="34" charset="-122"/>
                <a:cs typeface="Calibri" pitchFamily="34" charset="-120"/>
              </a:rPr>
              <a:t>Imagen sintética + cajas YOLO generadas (verde)</a:t>
            </a:r>
            <a:endParaRPr lang="en-US" sz="1150" dirty="0"/>
          </a:p>
        </p:txBody>
      </p:sp>
      <p:sp>
        <p:nvSpPr>
          <p:cNvPr id="9" name="Shape 5"/>
          <p:cNvSpPr/>
          <p:nvPr/>
        </p:nvSpPr>
        <p:spPr>
          <a:xfrm rot="480000">
            <a:off x="5486400" y="1929384"/>
            <a:ext cx="274320" cy="274320"/>
          </a:xfrm>
          <a:prstGeom prst="roundRect">
            <a:avLst>
              <a:gd name="adj" fmla="val 43478"/>
            </a:avLst>
          </a:prstGeom>
          <a:solidFill>
            <a:srgbClr val="C68A3E"/>
          </a:solidFill>
          <a:ln/>
        </p:spPr>
      </p:sp>
      <p:sp>
        <p:nvSpPr>
          <p:cNvPr id="10" name="Text 6"/>
          <p:cNvSpPr/>
          <p:nvPr/>
        </p:nvSpPr>
        <p:spPr>
          <a:xfrm>
            <a:off x="5943600" y="1874520"/>
            <a:ext cx="5760720" cy="365760"/>
          </a:xfrm>
          <a:prstGeom prst="rect">
            <a:avLst/>
          </a:prstGeom>
          <a:noFill/>
          <a:ln/>
        </p:spPr>
        <p:txBody>
          <a:bodyPr wrap="square" lIns="0" tIns="0" rIns="0" bIns="0" rtlCol="0" anchor="ctr"/>
          <a:lstStyle/>
          <a:p>
            <a:pPr indent="0" marL="0">
              <a:buNone/>
            </a:pPr>
            <a:r>
              <a:rPr lang="en-US" sz="1600" b="1" dirty="0">
                <a:solidFill>
                  <a:srgbClr val="16231C"/>
                </a:solidFill>
                <a:latin typeface="Calibri" pitchFamily="34" charset="0"/>
                <a:ea typeface="Calibri" pitchFamily="34" charset="-122"/>
                <a:cs typeface="Calibri" pitchFamily="34" charset="-120"/>
              </a:rPr>
              <a:t>Lienzo y densidad</a:t>
            </a:r>
            <a:endParaRPr lang="en-US" sz="1600" dirty="0"/>
          </a:p>
        </p:txBody>
      </p:sp>
      <p:sp>
        <p:nvSpPr>
          <p:cNvPr id="11" name="Text 7"/>
          <p:cNvSpPr/>
          <p:nvPr/>
        </p:nvSpPr>
        <p:spPr>
          <a:xfrm>
            <a:off x="5943600" y="2258568"/>
            <a:ext cx="5760720" cy="548640"/>
          </a:xfrm>
          <a:prstGeom prst="rect">
            <a:avLst/>
          </a:prstGeom>
          <a:noFill/>
          <a:ln/>
        </p:spPr>
        <p:txBody>
          <a:bodyPr wrap="square" lIns="0" tIns="0" rIns="0" bIns="0" rtlCol="0" anchor="t"/>
          <a:lstStyle/>
          <a:p>
            <a:pPr indent="0" marL="0">
              <a:lnSpc>
                <a:spcPct val="105000"/>
              </a:lnSpc>
              <a:buNone/>
            </a:pPr>
            <a:r>
              <a:rPr lang="en-US" sz="1300" dirty="0">
                <a:solidFill>
                  <a:srgbClr val="5A6F62"/>
                </a:solidFill>
                <a:latin typeface="Calibri" pitchFamily="34" charset="0"/>
                <a:ea typeface="Calibri" pitchFamily="34" charset="-122"/>
                <a:cs typeface="Calibri" pitchFamily="34" charset="-120"/>
              </a:rPr>
              <a:t>Fondo objetivo + N granos aleatorio (20–150) para cubrir muchas densidades.</a:t>
            </a:r>
            <a:endParaRPr lang="en-US" sz="1300" dirty="0"/>
          </a:p>
        </p:txBody>
      </p:sp>
      <p:sp>
        <p:nvSpPr>
          <p:cNvPr id="12" name="Shape 8"/>
          <p:cNvSpPr/>
          <p:nvPr/>
        </p:nvSpPr>
        <p:spPr>
          <a:xfrm rot="480000">
            <a:off x="5486400" y="3008376"/>
            <a:ext cx="274320" cy="274320"/>
          </a:xfrm>
          <a:prstGeom prst="roundRect">
            <a:avLst>
              <a:gd name="adj" fmla="val 43478"/>
            </a:avLst>
          </a:prstGeom>
          <a:solidFill>
            <a:srgbClr val="C68A3E"/>
          </a:solidFill>
          <a:ln/>
        </p:spPr>
      </p:sp>
      <p:sp>
        <p:nvSpPr>
          <p:cNvPr id="13" name="Text 9"/>
          <p:cNvSpPr/>
          <p:nvPr/>
        </p:nvSpPr>
        <p:spPr>
          <a:xfrm>
            <a:off x="5943600" y="2953512"/>
            <a:ext cx="5760720" cy="365760"/>
          </a:xfrm>
          <a:prstGeom prst="rect">
            <a:avLst/>
          </a:prstGeom>
          <a:noFill/>
          <a:ln/>
        </p:spPr>
        <p:txBody>
          <a:bodyPr wrap="square" lIns="0" tIns="0" rIns="0" bIns="0" rtlCol="0" anchor="ctr"/>
          <a:lstStyle/>
          <a:p>
            <a:pPr indent="0" marL="0">
              <a:buNone/>
            </a:pPr>
            <a:r>
              <a:rPr lang="en-US" sz="1600" b="1" dirty="0">
                <a:solidFill>
                  <a:srgbClr val="16231C"/>
                </a:solidFill>
                <a:latin typeface="Calibri" pitchFamily="34" charset="0"/>
                <a:ea typeface="Calibri" pitchFamily="34" charset="-122"/>
                <a:cs typeface="Calibri" pitchFamily="34" charset="-120"/>
              </a:rPr>
              <a:t>Control de oclusión</a:t>
            </a:r>
            <a:endParaRPr lang="en-US" sz="1600" dirty="0"/>
          </a:p>
        </p:txBody>
      </p:sp>
      <p:sp>
        <p:nvSpPr>
          <p:cNvPr id="14" name="Text 10"/>
          <p:cNvSpPr/>
          <p:nvPr/>
        </p:nvSpPr>
        <p:spPr>
          <a:xfrm>
            <a:off x="5943600" y="3337560"/>
            <a:ext cx="5760720" cy="548640"/>
          </a:xfrm>
          <a:prstGeom prst="rect">
            <a:avLst/>
          </a:prstGeom>
          <a:noFill/>
          <a:ln/>
        </p:spPr>
        <p:txBody>
          <a:bodyPr wrap="square" lIns="0" tIns="0" rIns="0" bIns="0" rtlCol="0" anchor="t"/>
          <a:lstStyle/>
          <a:p>
            <a:pPr indent="0" marL="0">
              <a:lnSpc>
                <a:spcPct val="105000"/>
              </a:lnSpc>
              <a:buNone/>
            </a:pPr>
            <a:r>
              <a:rPr lang="en-US" sz="1300" dirty="0">
                <a:solidFill>
                  <a:srgbClr val="5A6F62"/>
                </a:solidFill>
                <a:latin typeface="Calibri" pitchFamily="34" charset="0"/>
                <a:ea typeface="Calibri" pitchFamily="34" charset="-122"/>
                <a:cs typeface="Calibri" pitchFamily="34" charset="-120"/>
              </a:rPr>
              <a:t>Máscara global de ocupación; si el solapamiento supera el umbral, se reubica.</a:t>
            </a:r>
            <a:endParaRPr lang="en-US" sz="1300" dirty="0"/>
          </a:p>
        </p:txBody>
      </p:sp>
      <p:sp>
        <p:nvSpPr>
          <p:cNvPr id="15" name="Shape 11"/>
          <p:cNvSpPr/>
          <p:nvPr/>
        </p:nvSpPr>
        <p:spPr>
          <a:xfrm rot="480000">
            <a:off x="5486400" y="4087368"/>
            <a:ext cx="274320" cy="274320"/>
          </a:xfrm>
          <a:prstGeom prst="roundRect">
            <a:avLst>
              <a:gd name="adj" fmla="val 43478"/>
            </a:avLst>
          </a:prstGeom>
          <a:solidFill>
            <a:srgbClr val="C68A3E"/>
          </a:solidFill>
          <a:ln/>
        </p:spPr>
      </p:sp>
      <p:sp>
        <p:nvSpPr>
          <p:cNvPr id="16" name="Text 12"/>
          <p:cNvSpPr/>
          <p:nvPr/>
        </p:nvSpPr>
        <p:spPr>
          <a:xfrm>
            <a:off x="5943600" y="4032504"/>
            <a:ext cx="5760720" cy="365760"/>
          </a:xfrm>
          <a:prstGeom prst="rect">
            <a:avLst/>
          </a:prstGeom>
          <a:noFill/>
          <a:ln/>
        </p:spPr>
        <p:txBody>
          <a:bodyPr wrap="square" lIns="0" tIns="0" rIns="0" bIns="0" rtlCol="0" anchor="ctr"/>
          <a:lstStyle/>
          <a:p>
            <a:pPr indent="0" marL="0">
              <a:buNone/>
            </a:pPr>
            <a:r>
              <a:rPr lang="en-US" sz="1600" b="1" dirty="0">
                <a:solidFill>
                  <a:srgbClr val="16231C"/>
                </a:solidFill>
                <a:latin typeface="Calibri" pitchFamily="34" charset="0"/>
                <a:ea typeface="Calibri" pitchFamily="34" charset="-122"/>
                <a:cs typeface="Calibri" pitchFamily="34" charset="-120"/>
              </a:rPr>
              <a:t>Alpha blending</a:t>
            </a:r>
            <a:endParaRPr lang="en-US" sz="1600" dirty="0"/>
          </a:p>
        </p:txBody>
      </p:sp>
      <p:sp>
        <p:nvSpPr>
          <p:cNvPr id="17" name="Text 13"/>
          <p:cNvSpPr/>
          <p:nvPr/>
        </p:nvSpPr>
        <p:spPr>
          <a:xfrm>
            <a:off x="5943600" y="4416552"/>
            <a:ext cx="5760720" cy="548640"/>
          </a:xfrm>
          <a:prstGeom prst="rect">
            <a:avLst/>
          </a:prstGeom>
          <a:noFill/>
          <a:ln/>
        </p:spPr>
        <p:txBody>
          <a:bodyPr wrap="square" lIns="0" tIns="0" rIns="0" bIns="0" rtlCol="0" anchor="t"/>
          <a:lstStyle/>
          <a:p>
            <a:pPr indent="0" marL="0">
              <a:lnSpc>
                <a:spcPct val="105000"/>
              </a:lnSpc>
              <a:buNone/>
            </a:pPr>
            <a:r>
              <a:rPr lang="en-US" sz="1300" dirty="0">
                <a:solidFill>
                  <a:srgbClr val="5A6F62"/>
                </a:solidFill>
                <a:latin typeface="Calibri" pitchFamily="34" charset="0"/>
                <a:ea typeface="Calibri" pitchFamily="34" charset="-122"/>
                <a:cs typeface="Calibri" pitchFamily="34" charset="-120"/>
              </a:rPr>
              <a:t>Iₛ = α·grano + (1−α)·fondo. Sin bordes duros ni aliasing.</a:t>
            </a:r>
            <a:endParaRPr lang="en-US" sz="1300" dirty="0"/>
          </a:p>
        </p:txBody>
      </p:sp>
      <p:sp>
        <p:nvSpPr>
          <p:cNvPr id="18" name="Shape 14"/>
          <p:cNvSpPr/>
          <p:nvPr/>
        </p:nvSpPr>
        <p:spPr>
          <a:xfrm rot="480000">
            <a:off x="5486400" y="5166360"/>
            <a:ext cx="274320" cy="274320"/>
          </a:xfrm>
          <a:prstGeom prst="roundRect">
            <a:avLst>
              <a:gd name="adj" fmla="val 43478"/>
            </a:avLst>
          </a:prstGeom>
          <a:solidFill>
            <a:srgbClr val="C68A3E"/>
          </a:solidFill>
          <a:ln/>
        </p:spPr>
      </p:sp>
      <p:sp>
        <p:nvSpPr>
          <p:cNvPr id="19" name="Text 15"/>
          <p:cNvSpPr/>
          <p:nvPr/>
        </p:nvSpPr>
        <p:spPr>
          <a:xfrm>
            <a:off x="5943600" y="5111496"/>
            <a:ext cx="5760720" cy="365760"/>
          </a:xfrm>
          <a:prstGeom prst="rect">
            <a:avLst/>
          </a:prstGeom>
          <a:noFill/>
          <a:ln/>
        </p:spPr>
        <p:txBody>
          <a:bodyPr wrap="square" lIns="0" tIns="0" rIns="0" bIns="0" rtlCol="0" anchor="ctr"/>
          <a:lstStyle/>
          <a:p>
            <a:pPr indent="0" marL="0">
              <a:buNone/>
            </a:pPr>
            <a:r>
              <a:rPr lang="en-US" sz="1600" b="1" dirty="0">
                <a:solidFill>
                  <a:srgbClr val="16231C"/>
                </a:solidFill>
                <a:latin typeface="Calibri" pitchFamily="34" charset="0"/>
                <a:ea typeface="Calibri" pitchFamily="34" charset="-122"/>
                <a:cs typeface="Calibri" pitchFamily="34" charset="-120"/>
              </a:rPr>
              <a:t>Etiquetas exactas</a:t>
            </a:r>
            <a:endParaRPr lang="en-US" sz="1600" dirty="0"/>
          </a:p>
        </p:txBody>
      </p:sp>
      <p:sp>
        <p:nvSpPr>
          <p:cNvPr id="20" name="Text 16"/>
          <p:cNvSpPr/>
          <p:nvPr/>
        </p:nvSpPr>
        <p:spPr>
          <a:xfrm>
            <a:off x="5943600" y="5495544"/>
            <a:ext cx="5760720" cy="548640"/>
          </a:xfrm>
          <a:prstGeom prst="rect">
            <a:avLst/>
          </a:prstGeom>
          <a:noFill/>
          <a:ln/>
        </p:spPr>
        <p:txBody>
          <a:bodyPr wrap="square" lIns="0" tIns="0" rIns="0" bIns="0" rtlCol="0" anchor="t"/>
          <a:lstStyle/>
          <a:p>
            <a:pPr indent="0" marL="0">
              <a:lnSpc>
                <a:spcPct val="105000"/>
              </a:lnSpc>
              <a:buNone/>
            </a:pPr>
            <a:r>
              <a:rPr lang="en-US" sz="1300" dirty="0">
                <a:solidFill>
                  <a:srgbClr val="5A6F62"/>
                </a:solidFill>
                <a:latin typeface="Calibri" pitchFamily="34" charset="0"/>
                <a:ea typeface="Calibri" pitchFamily="34" charset="-122"/>
                <a:cs typeface="Calibri" pitchFamily="34" charset="-120"/>
              </a:rPr>
              <a:t>Se escribe [class, x, y, w, h] normalizado por grano, en el mismo paso.</a:t>
            </a:r>
            <a:endParaRPr lang="en-US" sz="1300" dirty="0"/>
          </a:p>
        </p:txBody>
      </p:sp>
      <p:sp>
        <p:nvSpPr>
          <p:cNvPr id="21" name="Text 1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2" name="Text 1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FASE 4 Y DATASET</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Realismo de sensor y escena densa</a:t>
            </a:r>
            <a:endParaRPr lang="en-US" sz="3000" dirty="0"/>
          </a:p>
        </p:txBody>
      </p:sp>
      <p:pic>
        <p:nvPicPr>
          <p:cNvPr id="6" name="Image 0" descr="/home/claude/poroto_cv/docs/deck_assets/texture_bg.jpg">    </p:cNvPr>
          <p:cNvPicPr>
            <a:picLocks noChangeAspect="1"/>
          </p:cNvPicPr>
          <p:nvPr/>
        </p:nvPicPr>
        <p:blipFill>
          <a:blip r:embed="rId1"/>
          <a:stretch>
            <a:fillRect/>
          </a:stretch>
        </p:blipFill>
        <p:spPr>
          <a:xfrm>
            <a:off x="457200" y="1874520"/>
            <a:ext cx="3246120" cy="3246120"/>
          </a:xfrm>
          <a:prstGeom prst="rect">
            <a:avLst/>
          </a:prstGeom>
        </p:spPr>
      </p:pic>
      <p:sp>
        <p:nvSpPr>
          <p:cNvPr id="7" name="Text 3"/>
          <p:cNvSpPr/>
          <p:nvPr/>
        </p:nvSpPr>
        <p:spPr>
          <a:xfrm>
            <a:off x="457200" y="5166360"/>
            <a:ext cx="3246120" cy="320040"/>
          </a:xfrm>
          <a:prstGeom prst="rect">
            <a:avLst/>
          </a:prstGeom>
          <a:noFill/>
          <a:ln/>
        </p:spPr>
        <p:txBody>
          <a:bodyPr wrap="square" lIns="0" tIns="0" rIns="0" bIns="0" rtlCol="0" anchor="ctr"/>
          <a:lstStyle/>
          <a:p>
            <a:pPr algn="ctr" indent="0" marL="0">
              <a:buNone/>
            </a:pPr>
            <a:r>
              <a:rPr lang="en-US" sz="1100" i="1" dirty="0">
                <a:solidFill>
                  <a:srgbClr val="5A6F62"/>
                </a:solidFill>
                <a:latin typeface="Calibri" pitchFamily="34" charset="0"/>
                <a:ea typeface="Calibri" pitchFamily="34" charset="-122"/>
                <a:cs typeface="Calibri" pitchFamily="34" charset="-120"/>
              </a:rPr>
              <a:t>Fondo con textura (cinta/tolva)</a:t>
            </a:r>
            <a:endParaRPr lang="en-US" sz="1100" dirty="0"/>
          </a:p>
        </p:txBody>
      </p:sp>
      <p:pic>
        <p:nvPicPr>
          <p:cNvPr id="8" name="Image 1" descr="/home/claude/poroto_cv/docs/deck_assets/synth_dense_gt.jpg">    </p:cNvPr>
          <p:cNvPicPr>
            <a:picLocks noChangeAspect="1"/>
          </p:cNvPicPr>
          <p:nvPr/>
        </p:nvPicPr>
        <p:blipFill>
          <a:blip r:embed="rId2"/>
          <a:stretch>
            <a:fillRect/>
          </a:stretch>
        </p:blipFill>
        <p:spPr>
          <a:xfrm>
            <a:off x="3886200" y="1874520"/>
            <a:ext cx="3246120" cy="3246120"/>
          </a:xfrm>
          <a:prstGeom prst="rect">
            <a:avLst/>
          </a:prstGeom>
        </p:spPr>
      </p:pic>
      <p:sp>
        <p:nvSpPr>
          <p:cNvPr id="9" name="Text 4"/>
          <p:cNvSpPr/>
          <p:nvPr/>
        </p:nvSpPr>
        <p:spPr>
          <a:xfrm>
            <a:off x="3886200" y="5166360"/>
            <a:ext cx="3246120" cy="320040"/>
          </a:xfrm>
          <a:prstGeom prst="rect">
            <a:avLst/>
          </a:prstGeom>
          <a:noFill/>
          <a:ln/>
        </p:spPr>
        <p:txBody>
          <a:bodyPr wrap="square" lIns="0" tIns="0" rIns="0" bIns="0" rtlCol="0" anchor="ctr"/>
          <a:lstStyle/>
          <a:p>
            <a:pPr algn="ctr" indent="0" marL="0">
              <a:buNone/>
            </a:pPr>
            <a:r>
              <a:rPr lang="en-US" sz="1100" i="1" dirty="0">
                <a:solidFill>
                  <a:srgbClr val="5A6F62"/>
                </a:solidFill>
                <a:latin typeface="Calibri" pitchFamily="34" charset="0"/>
                <a:ea typeface="Calibri" pitchFamily="34" charset="-122"/>
                <a:cs typeface="Calibri" pitchFamily="34" charset="-120"/>
              </a:rPr>
              <a:t>Alta densidad (N=93) con oclusión</a:t>
            </a:r>
            <a:endParaRPr lang="en-US" sz="1100" dirty="0"/>
          </a:p>
        </p:txBody>
      </p:sp>
      <p:sp>
        <p:nvSpPr>
          <p:cNvPr id="10" name="Shape 5"/>
          <p:cNvSpPr/>
          <p:nvPr/>
        </p:nvSpPr>
        <p:spPr>
          <a:xfrm>
            <a:off x="7498080" y="1874520"/>
            <a:ext cx="4206240" cy="3703320"/>
          </a:xfrm>
          <a:prstGeom prst="roundRect">
            <a:avLst>
              <a:gd name="adj" fmla="val 2963"/>
            </a:avLst>
          </a:prstGeom>
          <a:solidFill>
            <a:srgbClr val="14201A"/>
          </a:solidFill>
          <a:ln/>
          <a:effectLst>
            <a:outerShdw sx="100000" sy="100000" kx="0" ky="0" algn="bl" rotWithShape="0" blurRad="114300" dist="38100" dir="5400000">
              <a:srgbClr val="16231C">
                <a:alpha val="10000"/>
              </a:srgbClr>
            </a:outerShdw>
          </a:effectLst>
        </p:spPr>
      </p:sp>
      <p:sp>
        <p:nvSpPr>
          <p:cNvPr id="11" name="Text 6"/>
          <p:cNvSpPr/>
          <p:nvPr/>
        </p:nvSpPr>
        <p:spPr>
          <a:xfrm>
            <a:off x="7772400" y="2057400"/>
            <a:ext cx="3657600" cy="365760"/>
          </a:xfrm>
          <a:prstGeom prst="rect">
            <a:avLst/>
          </a:prstGeom>
          <a:noFill/>
          <a:ln/>
        </p:spPr>
        <p:txBody>
          <a:bodyPr wrap="square" lIns="0" tIns="0" rIns="0" bIns="0" rtlCol="0" anchor="ctr"/>
          <a:lstStyle/>
          <a:p>
            <a:pPr indent="0" marL="0">
              <a:buNone/>
            </a:pPr>
            <a:r>
              <a:rPr lang="en-US" sz="1500" b="1" dirty="0">
                <a:solidFill>
                  <a:srgbClr val="D8A657"/>
                </a:solidFill>
                <a:latin typeface="Calibri" pitchFamily="34" charset="0"/>
                <a:ea typeface="Calibri" pitchFamily="34" charset="-122"/>
                <a:cs typeface="Calibri" pitchFamily="34" charset="-120"/>
              </a:rPr>
              <a:t>Fase 4 · Postproceso global</a:t>
            </a:r>
            <a:endParaRPr lang="en-US" sz="1500" dirty="0"/>
          </a:p>
        </p:txBody>
      </p:sp>
      <p:sp>
        <p:nvSpPr>
          <p:cNvPr id="12" name="Text 7"/>
          <p:cNvSpPr/>
          <p:nvPr/>
        </p:nvSpPr>
        <p:spPr>
          <a:xfrm>
            <a:off x="7818120" y="2468880"/>
            <a:ext cx="3657600" cy="1371600"/>
          </a:xfrm>
          <a:prstGeom prst="rect">
            <a:avLst/>
          </a:prstGeom>
          <a:noFill/>
          <a:ln/>
        </p:spPr>
        <p:txBody>
          <a:bodyPr wrap="square" rtlCol="0" anchor="t"/>
          <a:lstStyle/>
          <a:p>
            <a:pPr marL="342900" indent="-342900">
              <a:spcAft>
                <a:spcPts val="500"/>
              </a:spcAft>
              <a:buSzPct val="100000"/>
              <a:buChar char="•"/>
            </a:pPr>
            <a:r>
              <a:rPr lang="en-US" sz="1250" dirty="0">
                <a:solidFill>
                  <a:srgbClr val="D8E5DC"/>
                </a:solidFill>
                <a:latin typeface="Calibri" pitchFamily="34" charset="0"/>
                <a:ea typeface="Calibri" pitchFamily="34" charset="-122"/>
                <a:cs typeface="Calibri" pitchFamily="34" charset="-120"/>
              </a:rPr>
              <a:t>Desenfoque gaussiano sutil (lente/movimiento).</a:t>
            </a:r>
            <a:endParaRPr lang="en-US" sz="1250" dirty="0"/>
          </a:p>
          <a:p>
            <a:pPr marL="342900" indent="-342900">
              <a:spcAft>
                <a:spcPts val="500"/>
              </a:spcAft>
              <a:buSzPct val="100000"/>
              <a:buChar char="•"/>
            </a:pPr>
            <a:r>
              <a:rPr lang="en-US" sz="1250" dirty="0">
                <a:solidFill>
                  <a:srgbClr val="D8E5DC"/>
                </a:solidFill>
                <a:latin typeface="Calibri" pitchFamily="34" charset="0"/>
                <a:ea typeface="Calibri" pitchFamily="34" charset="-122"/>
                <a:cs typeface="Calibri" pitchFamily="34" charset="-120"/>
              </a:rPr>
              <a:t>Ruido speckle + gaussiano (sensor).</a:t>
            </a:r>
            <a:endParaRPr lang="en-US" sz="1250" dirty="0"/>
          </a:p>
          <a:p>
            <a:pPr marL="342900" indent="-342900">
              <a:spcAft>
                <a:spcPts val="500"/>
              </a:spcAft>
              <a:buSzPct val="100000"/>
              <a:buChar char="•"/>
            </a:pPr>
            <a:r>
              <a:rPr lang="en-US" sz="1250" dirty="0">
                <a:solidFill>
                  <a:srgbClr val="D8E5DC"/>
                </a:solidFill>
                <a:latin typeface="Calibri" pitchFamily="34" charset="0"/>
                <a:ea typeface="Calibri" pitchFamily="34" charset="-122"/>
                <a:cs typeface="Calibri" pitchFamily="34" charset="-120"/>
              </a:rPr>
              <a:t>Borra la discontinuidad matemática en los bordes sintetizados.</a:t>
            </a:r>
            <a:endParaRPr lang="en-US" sz="1250" dirty="0"/>
          </a:p>
        </p:txBody>
      </p:sp>
      <p:sp>
        <p:nvSpPr>
          <p:cNvPr id="13" name="Shape 8"/>
          <p:cNvSpPr/>
          <p:nvPr/>
        </p:nvSpPr>
        <p:spPr>
          <a:xfrm>
            <a:off x="7818120" y="3977640"/>
            <a:ext cx="3566160" cy="0"/>
          </a:xfrm>
          <a:prstGeom prst="line">
            <a:avLst/>
          </a:prstGeom>
          <a:noFill/>
          <a:ln w="12700">
            <a:solidFill>
              <a:srgbClr val="33503F"/>
            </a:solidFill>
            <a:prstDash val="solid"/>
          </a:ln>
        </p:spPr>
      </p:sp>
      <p:sp>
        <p:nvSpPr>
          <p:cNvPr id="14" name="Text 9"/>
          <p:cNvSpPr/>
          <p:nvPr/>
        </p:nvSpPr>
        <p:spPr>
          <a:xfrm>
            <a:off x="7772400" y="411480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Dataset de demostración</a:t>
            </a:r>
            <a:endParaRPr lang="en-US" sz="1300" dirty="0"/>
          </a:p>
        </p:txBody>
      </p:sp>
      <p:sp>
        <p:nvSpPr>
          <p:cNvPr id="15" name="Text 10"/>
          <p:cNvSpPr/>
          <p:nvPr/>
        </p:nvSpPr>
        <p:spPr>
          <a:xfrm>
            <a:off x="7818120" y="4480560"/>
            <a:ext cx="2377440" cy="320040"/>
          </a:xfrm>
          <a:prstGeom prst="rect">
            <a:avLst/>
          </a:prstGeom>
          <a:noFill/>
          <a:ln/>
        </p:spPr>
        <p:txBody>
          <a:bodyPr wrap="square" lIns="0" tIns="0" rIns="0" bIns="0" rtlCol="0" anchor="ctr"/>
          <a:lstStyle/>
          <a:p>
            <a:pPr indent="0" marL="0">
              <a:buNone/>
            </a:pPr>
            <a:r>
              <a:rPr lang="en-US" sz="1250" dirty="0">
                <a:solidFill>
                  <a:srgbClr val="AFC6B7"/>
                </a:solidFill>
                <a:latin typeface="Calibri" pitchFamily="34" charset="0"/>
                <a:ea typeface="Calibri" pitchFamily="34" charset="-122"/>
                <a:cs typeface="Calibri" pitchFamily="34" charset="-120"/>
              </a:rPr>
              <a:t>Densidad por imagen</a:t>
            </a:r>
            <a:endParaRPr lang="en-US" sz="1250" dirty="0"/>
          </a:p>
        </p:txBody>
      </p:sp>
      <p:sp>
        <p:nvSpPr>
          <p:cNvPr id="16" name="Text 11"/>
          <p:cNvSpPr/>
          <p:nvPr/>
        </p:nvSpPr>
        <p:spPr>
          <a:xfrm>
            <a:off x="10149840" y="4480560"/>
            <a:ext cx="1371600" cy="320040"/>
          </a:xfrm>
          <a:prstGeom prst="rect">
            <a:avLst/>
          </a:prstGeom>
          <a:noFill/>
          <a:ln/>
        </p:spPr>
        <p:txBody>
          <a:bodyPr wrap="square" lIns="0" tIns="0" rIns="0" bIns="0" rtlCol="0" anchor="ctr"/>
          <a:lstStyle/>
          <a:p>
            <a:pPr algn="r" indent="0" marL="0">
              <a:buNone/>
            </a:pPr>
            <a:r>
              <a:rPr lang="en-US" sz="1250" b="1" dirty="0">
                <a:solidFill>
                  <a:srgbClr val="D8A657"/>
                </a:solidFill>
                <a:latin typeface="Calibri" pitchFamily="34" charset="0"/>
                <a:ea typeface="Calibri" pitchFamily="34" charset="-122"/>
                <a:cs typeface="Calibri" pitchFamily="34" charset="-120"/>
              </a:rPr>
              <a:t>20–150</a:t>
            </a:r>
            <a:endParaRPr lang="en-US" sz="1250" dirty="0"/>
          </a:p>
        </p:txBody>
      </p:sp>
      <p:sp>
        <p:nvSpPr>
          <p:cNvPr id="17" name="Text 12"/>
          <p:cNvSpPr/>
          <p:nvPr/>
        </p:nvSpPr>
        <p:spPr>
          <a:xfrm>
            <a:off x="7818120" y="4828032"/>
            <a:ext cx="2377440" cy="320040"/>
          </a:xfrm>
          <a:prstGeom prst="rect">
            <a:avLst/>
          </a:prstGeom>
          <a:noFill/>
          <a:ln/>
        </p:spPr>
        <p:txBody>
          <a:bodyPr wrap="square" lIns="0" tIns="0" rIns="0" bIns="0" rtlCol="0" anchor="ctr"/>
          <a:lstStyle/>
          <a:p>
            <a:pPr indent="0" marL="0">
              <a:buNone/>
            </a:pPr>
            <a:r>
              <a:rPr lang="en-US" sz="1250" dirty="0">
                <a:solidFill>
                  <a:srgbClr val="AFC6B7"/>
                </a:solidFill>
                <a:latin typeface="Calibri" pitchFamily="34" charset="0"/>
                <a:ea typeface="Calibri" pitchFamily="34" charset="-122"/>
                <a:cs typeface="Calibri" pitchFamily="34" charset="-120"/>
              </a:rPr>
              <a:t>Instancias (6 imgs)</a:t>
            </a:r>
            <a:endParaRPr lang="en-US" sz="1250" dirty="0"/>
          </a:p>
        </p:txBody>
      </p:sp>
      <p:sp>
        <p:nvSpPr>
          <p:cNvPr id="18" name="Text 13"/>
          <p:cNvSpPr/>
          <p:nvPr/>
        </p:nvSpPr>
        <p:spPr>
          <a:xfrm>
            <a:off x="10149840" y="4828032"/>
            <a:ext cx="1371600" cy="320040"/>
          </a:xfrm>
          <a:prstGeom prst="rect">
            <a:avLst/>
          </a:prstGeom>
          <a:noFill/>
          <a:ln/>
        </p:spPr>
        <p:txBody>
          <a:bodyPr wrap="square" lIns="0" tIns="0" rIns="0" bIns="0" rtlCol="0" anchor="ctr"/>
          <a:lstStyle/>
          <a:p>
            <a:pPr algn="r" indent="0" marL="0">
              <a:buNone/>
            </a:pPr>
            <a:r>
              <a:rPr lang="en-US" sz="1250" b="1" dirty="0">
                <a:solidFill>
                  <a:srgbClr val="D8A657"/>
                </a:solidFill>
                <a:latin typeface="Calibri" pitchFamily="34" charset="0"/>
                <a:ea typeface="Calibri" pitchFamily="34" charset="-122"/>
                <a:cs typeface="Calibri" pitchFamily="34" charset="-120"/>
              </a:rPr>
              <a:t>559</a:t>
            </a:r>
            <a:endParaRPr lang="en-US" sz="1250" dirty="0"/>
          </a:p>
        </p:txBody>
      </p:sp>
      <p:sp>
        <p:nvSpPr>
          <p:cNvPr id="19" name="Text 14"/>
          <p:cNvSpPr/>
          <p:nvPr/>
        </p:nvSpPr>
        <p:spPr>
          <a:xfrm>
            <a:off x="7818120" y="5175504"/>
            <a:ext cx="2377440" cy="320040"/>
          </a:xfrm>
          <a:prstGeom prst="rect">
            <a:avLst/>
          </a:prstGeom>
          <a:noFill/>
          <a:ln/>
        </p:spPr>
        <p:txBody>
          <a:bodyPr wrap="square" lIns="0" tIns="0" rIns="0" bIns="0" rtlCol="0" anchor="ctr"/>
          <a:lstStyle/>
          <a:p>
            <a:pPr indent="0" marL="0">
              <a:buNone/>
            </a:pPr>
            <a:r>
              <a:rPr lang="en-US" sz="1250" dirty="0">
                <a:solidFill>
                  <a:srgbClr val="AFC6B7"/>
                </a:solidFill>
                <a:latin typeface="Calibri" pitchFamily="34" charset="0"/>
                <a:ea typeface="Calibri" pitchFamily="34" charset="-122"/>
                <a:cs typeface="Calibri" pitchFamily="34" charset="-120"/>
              </a:rPr>
              <a:t>Formato de salida</a:t>
            </a:r>
            <a:endParaRPr lang="en-US" sz="1250" dirty="0"/>
          </a:p>
        </p:txBody>
      </p:sp>
      <p:sp>
        <p:nvSpPr>
          <p:cNvPr id="20" name="Text 15"/>
          <p:cNvSpPr/>
          <p:nvPr/>
        </p:nvSpPr>
        <p:spPr>
          <a:xfrm>
            <a:off x="10149840" y="5175504"/>
            <a:ext cx="1371600" cy="320040"/>
          </a:xfrm>
          <a:prstGeom prst="rect">
            <a:avLst/>
          </a:prstGeom>
          <a:noFill/>
          <a:ln/>
        </p:spPr>
        <p:txBody>
          <a:bodyPr wrap="square" lIns="0" tIns="0" rIns="0" bIns="0" rtlCol="0" anchor="ctr"/>
          <a:lstStyle/>
          <a:p>
            <a:pPr algn="r" indent="0" marL="0">
              <a:buNone/>
            </a:pPr>
            <a:r>
              <a:rPr lang="en-US" sz="1250" b="1" dirty="0">
                <a:solidFill>
                  <a:srgbClr val="D8A657"/>
                </a:solidFill>
                <a:latin typeface="Calibri" pitchFamily="34" charset="0"/>
                <a:ea typeface="Calibri" pitchFamily="34" charset="-122"/>
                <a:cs typeface="Calibri" pitchFamily="34" charset="-120"/>
              </a:rPr>
              <a:t>YOLO</a:t>
            </a:r>
            <a:endParaRPr lang="en-US" sz="1250" dirty="0"/>
          </a:p>
        </p:txBody>
      </p:sp>
      <p:sp>
        <p:nvSpPr>
          <p:cNvPr id="21" name="Text 1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2" name="Text 17"/>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ENTRENAMIENTO</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Detector y la métrica que importa</a:t>
            </a:r>
            <a:endParaRPr lang="en-US" sz="3000" dirty="0"/>
          </a:p>
        </p:txBody>
      </p:sp>
      <p:sp>
        <p:nvSpPr>
          <p:cNvPr id="6" name="Text 3"/>
          <p:cNvSpPr/>
          <p:nvPr/>
        </p:nvSpPr>
        <p:spPr>
          <a:xfrm>
            <a:off x="457200" y="1783080"/>
            <a:ext cx="5943600" cy="365760"/>
          </a:xfrm>
          <a:prstGeom prst="rect">
            <a:avLst/>
          </a:prstGeom>
          <a:noFill/>
          <a:ln/>
        </p:spPr>
        <p:txBody>
          <a:bodyPr wrap="square" lIns="0" tIns="0" rIns="0" bIns="0" rtlCol="0" anchor="ctr"/>
          <a:lstStyle/>
          <a:p>
            <a:pPr indent="0" marL="0">
              <a:buNone/>
            </a:pPr>
            <a:r>
              <a:rPr lang="en-US" sz="1700" b="1" dirty="0">
                <a:solidFill>
                  <a:srgbClr val="2F7D52"/>
                </a:solidFill>
                <a:latin typeface="Calibri" pitchFamily="34" charset="0"/>
                <a:ea typeface="Calibri" pitchFamily="34" charset="-122"/>
                <a:cs typeface="Calibri" pitchFamily="34" charset="-120"/>
              </a:rPr>
              <a:t>Modelo: YOLOv8 (Ultralytics)</a:t>
            </a:r>
            <a:endParaRPr lang="en-US" sz="1700" dirty="0"/>
          </a:p>
        </p:txBody>
      </p:sp>
      <p:sp>
        <p:nvSpPr>
          <p:cNvPr id="7" name="Text 4"/>
          <p:cNvSpPr/>
          <p:nvPr/>
        </p:nvSpPr>
        <p:spPr>
          <a:xfrm>
            <a:off x="548640" y="2194560"/>
            <a:ext cx="5852160" cy="1828800"/>
          </a:xfrm>
          <a:prstGeom prst="rect">
            <a:avLst/>
          </a:prstGeom>
          <a:noFill/>
          <a:ln/>
        </p:spPr>
        <p:txBody>
          <a:bodyPr wrap="square" rtlCol="0" anchor="t"/>
          <a:lstStyle/>
          <a:p>
            <a:pPr marL="342900" indent="-342900">
              <a:spcAft>
                <a:spcPts val="700"/>
              </a:spcAft>
              <a:buSzPct val="100000"/>
              <a:buChar char="•"/>
            </a:pPr>
            <a:r>
              <a:rPr lang="en-US" sz="1350" dirty="0">
                <a:solidFill>
                  <a:srgbClr val="5A6F62"/>
                </a:solidFill>
                <a:latin typeface="Calibri" pitchFamily="34" charset="0"/>
                <a:ea typeface="Calibri" pitchFamily="34" charset="-122"/>
                <a:cs typeface="Calibri" pitchFamily="34" charset="-120"/>
              </a:rPr>
              <a:t>Detección de una clase (poroto), entrada 1024×1024.</a:t>
            </a:r>
            <a:endParaRPr lang="en-US" sz="1350" dirty="0"/>
          </a:p>
          <a:p>
            <a:pPr marL="342900" indent="-342900">
              <a:spcAft>
                <a:spcPts val="700"/>
              </a:spcAft>
              <a:buSzPct val="100000"/>
              <a:buChar char="•"/>
            </a:pPr>
            <a:r>
              <a:rPr lang="en-US" sz="1350" dirty="0">
                <a:solidFill>
                  <a:srgbClr val="5A6F62"/>
                </a:solidFill>
                <a:latin typeface="Calibri" pitchFamily="34" charset="0"/>
                <a:ea typeface="Calibri" pitchFamily="34" charset="-122"/>
                <a:cs typeface="Calibri" pitchFamily="34" charset="-120"/>
              </a:rPr>
              <a:t>El dataset ya trae augmentation por grano; en el entrenador sólo sumamos mosaico/flip moderados.</a:t>
            </a:r>
            <a:endParaRPr lang="en-US" sz="1350" dirty="0"/>
          </a:p>
          <a:p>
            <a:pPr marL="342900" indent="-342900">
              <a:spcAft>
                <a:spcPts val="700"/>
              </a:spcAft>
              <a:buSzPct val="100000"/>
              <a:buChar char="•"/>
            </a:pPr>
            <a:r>
              <a:rPr lang="en-US" sz="1350" dirty="0">
                <a:solidFill>
                  <a:srgbClr val="5A6F62"/>
                </a:solidFill>
                <a:latin typeface="Calibri" pitchFamily="34" charset="0"/>
                <a:ea typeface="Calibri" pitchFamily="34" charset="-122"/>
                <a:cs typeface="Calibri" pitchFamily="34" charset="-120"/>
              </a:rPr>
              <a:t>Elegido por: labels nativas YOLO + liviano para servir la demo. El pipeline es agnóstico al modelo.</a:t>
            </a:r>
            <a:endParaRPr lang="en-US" sz="1350" dirty="0"/>
          </a:p>
        </p:txBody>
      </p:sp>
      <p:sp>
        <p:nvSpPr>
          <p:cNvPr id="8" name="Text 5"/>
          <p:cNvSpPr/>
          <p:nvPr/>
        </p:nvSpPr>
        <p:spPr>
          <a:xfrm>
            <a:off x="457200" y="4114800"/>
            <a:ext cx="5943600" cy="365760"/>
          </a:xfrm>
          <a:prstGeom prst="rect">
            <a:avLst/>
          </a:prstGeom>
          <a:noFill/>
          <a:ln/>
        </p:spPr>
        <p:txBody>
          <a:bodyPr wrap="square" lIns="0" tIns="0" rIns="0" bIns="0" rtlCol="0" anchor="ctr"/>
          <a:lstStyle/>
          <a:p>
            <a:pPr indent="0" marL="0">
              <a:buNone/>
            </a:pPr>
            <a:r>
              <a:rPr lang="en-US" sz="1600" b="1" dirty="0">
                <a:solidFill>
                  <a:srgbClr val="16231C"/>
                </a:solidFill>
                <a:latin typeface="Calibri" pitchFamily="34" charset="0"/>
                <a:ea typeface="Calibri" pitchFamily="34" charset="-122"/>
                <a:cs typeface="Calibri" pitchFamily="34" charset="-120"/>
              </a:rPr>
              <a:t>Evaluamos el conteo, no sólo el mAP</a:t>
            </a:r>
            <a:endParaRPr lang="en-US" sz="1600" dirty="0"/>
          </a:p>
        </p:txBody>
      </p:sp>
      <p:sp>
        <p:nvSpPr>
          <p:cNvPr id="9" name="Text 6"/>
          <p:cNvSpPr/>
          <p:nvPr/>
        </p:nvSpPr>
        <p:spPr>
          <a:xfrm>
            <a:off x="548640" y="4498848"/>
            <a:ext cx="5852160" cy="640080"/>
          </a:xfrm>
          <a:prstGeom prst="rect">
            <a:avLst/>
          </a:prstGeom>
          <a:noFill/>
          <a:ln/>
        </p:spPr>
        <p:txBody>
          <a:bodyPr wrap="square" rtlCol="0" anchor="t"/>
          <a:lstStyle/>
          <a:p>
            <a:pPr indent="0" marL="0">
              <a:lnSpc>
                <a:spcPct val="110000"/>
              </a:lnSpc>
              <a:buNone/>
            </a:pPr>
            <a:r>
              <a:rPr lang="en-US" sz="1300" dirty="0">
                <a:solidFill>
                  <a:srgbClr val="5A6F62"/>
                </a:solidFill>
                <a:latin typeface="Calibri" pitchFamily="34" charset="0"/>
                <a:ea typeface="Calibri" pitchFamily="34" charset="-122"/>
                <a:cs typeface="Calibri" pitchFamily="34" charset="-120"/>
              </a:rPr>
              <a:t>El objetivo del negocio es cuántos granos hay; reportamos error de conteo en granos.</a:t>
            </a:r>
            <a:endParaRPr lang="en-US" sz="1300" dirty="0"/>
          </a:p>
        </p:txBody>
      </p:sp>
      <p:sp>
        <p:nvSpPr>
          <p:cNvPr id="10" name="Shape 7"/>
          <p:cNvSpPr/>
          <p:nvPr/>
        </p:nvSpPr>
        <p:spPr>
          <a:xfrm>
            <a:off x="6858000" y="1920240"/>
            <a:ext cx="4846320" cy="3291840"/>
          </a:xfrm>
          <a:prstGeom prst="roundRect">
            <a:avLst>
              <a:gd name="adj" fmla="val 3333"/>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1" name="Text 8"/>
          <p:cNvSpPr/>
          <p:nvPr/>
        </p:nvSpPr>
        <p:spPr>
          <a:xfrm>
            <a:off x="7132320" y="2148840"/>
            <a:ext cx="4297680" cy="365760"/>
          </a:xfrm>
          <a:prstGeom prst="rect">
            <a:avLst/>
          </a:prstGeom>
          <a:noFill/>
          <a:ln/>
        </p:spPr>
        <p:txBody>
          <a:bodyPr wrap="square" lIns="0" tIns="0" rIns="0" bIns="0" rtlCol="0" anchor="ctr"/>
          <a:lstStyle/>
          <a:p>
            <a:pPr indent="0" marL="0">
              <a:buNone/>
            </a:pPr>
            <a:r>
              <a:rPr lang="en-US" sz="1400" b="1" dirty="0">
                <a:solidFill>
                  <a:srgbClr val="16231C"/>
                </a:solidFill>
                <a:latin typeface="Calibri" pitchFamily="34" charset="0"/>
                <a:ea typeface="Calibri" pitchFamily="34" charset="-122"/>
                <a:cs typeface="Calibri" pitchFamily="34" charset="-120"/>
              </a:rPr>
              <a:t>Métricas de conteo</a:t>
            </a:r>
            <a:endParaRPr lang="en-US" sz="1400" dirty="0"/>
          </a:p>
        </p:txBody>
      </p:sp>
      <p:sp>
        <p:nvSpPr>
          <p:cNvPr id="12" name="Text 9"/>
          <p:cNvSpPr/>
          <p:nvPr/>
        </p:nvSpPr>
        <p:spPr>
          <a:xfrm>
            <a:off x="7132320" y="2697480"/>
            <a:ext cx="1371600" cy="411480"/>
          </a:xfrm>
          <a:prstGeom prst="rect">
            <a:avLst/>
          </a:prstGeom>
          <a:noFill/>
          <a:ln/>
        </p:spPr>
        <p:txBody>
          <a:bodyPr wrap="square" lIns="0" tIns="0" rIns="0" bIns="0" rtlCol="0" anchor="ctr"/>
          <a:lstStyle/>
          <a:p>
            <a:pPr indent="0" marL="0">
              <a:buNone/>
            </a:pPr>
            <a:r>
              <a:rPr lang="en-US" sz="1500" b="1" dirty="0">
                <a:solidFill>
                  <a:srgbClr val="C68A3E"/>
                </a:solidFill>
                <a:latin typeface="Calibri" pitchFamily="34" charset="0"/>
                <a:ea typeface="Calibri" pitchFamily="34" charset="-122"/>
                <a:cs typeface="Calibri" pitchFamily="34" charset="-120"/>
              </a:rPr>
              <a:t>MAE</a:t>
            </a:r>
            <a:endParaRPr lang="en-US" sz="1500" dirty="0"/>
          </a:p>
        </p:txBody>
      </p:sp>
      <p:sp>
        <p:nvSpPr>
          <p:cNvPr id="13" name="Text 10"/>
          <p:cNvSpPr/>
          <p:nvPr/>
        </p:nvSpPr>
        <p:spPr>
          <a:xfrm>
            <a:off x="8595360" y="2724912"/>
            <a:ext cx="2926080" cy="411480"/>
          </a:xfrm>
          <a:prstGeom prst="rect">
            <a:avLst/>
          </a:prstGeom>
          <a:noFill/>
          <a:ln/>
        </p:spPr>
        <p:txBody>
          <a:bodyPr wrap="square" lIns="0" tIns="0" rIns="0" bIns="0" rtlCol="0" anchor="t"/>
          <a:lstStyle/>
          <a:p>
            <a:pPr indent="0" marL="0">
              <a:buNone/>
            </a:pPr>
            <a:r>
              <a:rPr lang="en-US" sz="1200" dirty="0">
                <a:solidFill>
                  <a:srgbClr val="5A6F62"/>
                </a:solidFill>
                <a:latin typeface="Calibri" pitchFamily="34" charset="0"/>
                <a:ea typeface="Calibri" pitchFamily="34" charset="-122"/>
                <a:cs typeface="Calibri" pitchFamily="34" charset="-120"/>
              </a:rPr>
              <a:t>error medio absoluto, en granos</a:t>
            </a:r>
            <a:endParaRPr lang="en-US" sz="1200" dirty="0"/>
          </a:p>
        </p:txBody>
      </p:sp>
      <p:sp>
        <p:nvSpPr>
          <p:cNvPr id="14" name="Text 11"/>
          <p:cNvSpPr/>
          <p:nvPr/>
        </p:nvSpPr>
        <p:spPr>
          <a:xfrm>
            <a:off x="7132320" y="3300984"/>
            <a:ext cx="1371600" cy="411480"/>
          </a:xfrm>
          <a:prstGeom prst="rect">
            <a:avLst/>
          </a:prstGeom>
          <a:noFill/>
          <a:ln/>
        </p:spPr>
        <p:txBody>
          <a:bodyPr wrap="square" lIns="0" tIns="0" rIns="0" bIns="0" rtlCol="0" anchor="ctr"/>
          <a:lstStyle/>
          <a:p>
            <a:pPr indent="0" marL="0">
              <a:buNone/>
            </a:pPr>
            <a:r>
              <a:rPr lang="en-US" sz="1500" b="1" dirty="0">
                <a:solidFill>
                  <a:srgbClr val="C68A3E"/>
                </a:solidFill>
                <a:latin typeface="Calibri" pitchFamily="34" charset="0"/>
                <a:ea typeface="Calibri" pitchFamily="34" charset="-122"/>
                <a:cs typeface="Calibri" pitchFamily="34" charset="-120"/>
              </a:rPr>
              <a:t>RMSE</a:t>
            </a:r>
            <a:endParaRPr lang="en-US" sz="1500" dirty="0"/>
          </a:p>
        </p:txBody>
      </p:sp>
      <p:sp>
        <p:nvSpPr>
          <p:cNvPr id="15" name="Text 12"/>
          <p:cNvSpPr/>
          <p:nvPr/>
        </p:nvSpPr>
        <p:spPr>
          <a:xfrm>
            <a:off x="8595360" y="3328416"/>
            <a:ext cx="2926080" cy="411480"/>
          </a:xfrm>
          <a:prstGeom prst="rect">
            <a:avLst/>
          </a:prstGeom>
          <a:noFill/>
          <a:ln/>
        </p:spPr>
        <p:txBody>
          <a:bodyPr wrap="square" lIns="0" tIns="0" rIns="0" bIns="0" rtlCol="0" anchor="t"/>
          <a:lstStyle/>
          <a:p>
            <a:pPr indent="0" marL="0">
              <a:buNone/>
            </a:pPr>
            <a:r>
              <a:rPr lang="en-US" sz="1200" dirty="0">
                <a:solidFill>
                  <a:srgbClr val="5A6F62"/>
                </a:solidFill>
                <a:latin typeface="Calibri" pitchFamily="34" charset="0"/>
                <a:ea typeface="Calibri" pitchFamily="34" charset="-122"/>
                <a:cs typeface="Calibri" pitchFamily="34" charset="-120"/>
              </a:rPr>
              <a:t>penaliza errores grandes</a:t>
            </a:r>
            <a:endParaRPr lang="en-US" sz="1200" dirty="0"/>
          </a:p>
        </p:txBody>
      </p:sp>
      <p:sp>
        <p:nvSpPr>
          <p:cNvPr id="16" name="Text 13"/>
          <p:cNvSpPr/>
          <p:nvPr/>
        </p:nvSpPr>
        <p:spPr>
          <a:xfrm>
            <a:off x="7132320" y="3904488"/>
            <a:ext cx="1371600" cy="411480"/>
          </a:xfrm>
          <a:prstGeom prst="rect">
            <a:avLst/>
          </a:prstGeom>
          <a:noFill/>
          <a:ln/>
        </p:spPr>
        <p:txBody>
          <a:bodyPr wrap="square" lIns="0" tIns="0" rIns="0" bIns="0" rtlCol="0" anchor="ctr"/>
          <a:lstStyle/>
          <a:p>
            <a:pPr indent="0" marL="0">
              <a:buNone/>
            </a:pPr>
            <a:r>
              <a:rPr lang="en-US" sz="1500" b="1" dirty="0">
                <a:solidFill>
                  <a:srgbClr val="C68A3E"/>
                </a:solidFill>
                <a:latin typeface="Calibri" pitchFamily="34" charset="0"/>
                <a:ea typeface="Calibri" pitchFamily="34" charset="-122"/>
                <a:cs typeface="Calibri" pitchFamily="34" charset="-120"/>
              </a:rPr>
              <a:t>MAPE</a:t>
            </a:r>
            <a:endParaRPr lang="en-US" sz="1500" dirty="0"/>
          </a:p>
        </p:txBody>
      </p:sp>
      <p:sp>
        <p:nvSpPr>
          <p:cNvPr id="17" name="Text 14"/>
          <p:cNvSpPr/>
          <p:nvPr/>
        </p:nvSpPr>
        <p:spPr>
          <a:xfrm>
            <a:off x="8595360" y="3931920"/>
            <a:ext cx="2926080" cy="411480"/>
          </a:xfrm>
          <a:prstGeom prst="rect">
            <a:avLst/>
          </a:prstGeom>
          <a:noFill/>
          <a:ln/>
        </p:spPr>
        <p:txBody>
          <a:bodyPr wrap="square" lIns="0" tIns="0" rIns="0" bIns="0" rtlCol="0" anchor="t"/>
          <a:lstStyle/>
          <a:p>
            <a:pPr indent="0" marL="0">
              <a:buNone/>
            </a:pPr>
            <a:r>
              <a:rPr lang="en-US" sz="1200" dirty="0">
                <a:solidFill>
                  <a:srgbClr val="5A6F62"/>
                </a:solidFill>
                <a:latin typeface="Calibri" pitchFamily="34" charset="0"/>
                <a:ea typeface="Calibri" pitchFamily="34" charset="-122"/>
                <a:cs typeface="Calibri" pitchFamily="34" charset="-120"/>
              </a:rPr>
              <a:t>error porcentual relativo a N</a:t>
            </a:r>
            <a:endParaRPr lang="en-US" sz="1200" dirty="0"/>
          </a:p>
        </p:txBody>
      </p:sp>
      <p:sp>
        <p:nvSpPr>
          <p:cNvPr id="18" name="Text 15"/>
          <p:cNvSpPr/>
          <p:nvPr/>
        </p:nvSpPr>
        <p:spPr>
          <a:xfrm>
            <a:off x="7132320" y="4507992"/>
            <a:ext cx="1371600" cy="411480"/>
          </a:xfrm>
          <a:prstGeom prst="rect">
            <a:avLst/>
          </a:prstGeom>
          <a:noFill/>
          <a:ln/>
        </p:spPr>
        <p:txBody>
          <a:bodyPr wrap="square" lIns="0" tIns="0" rIns="0" bIns="0" rtlCol="0" anchor="ctr"/>
          <a:lstStyle/>
          <a:p>
            <a:pPr indent="0" marL="0">
              <a:buNone/>
            </a:pPr>
            <a:r>
              <a:rPr lang="en-US" sz="1500" b="1" dirty="0">
                <a:solidFill>
                  <a:srgbClr val="C68A3E"/>
                </a:solidFill>
                <a:latin typeface="Calibri" pitchFamily="34" charset="0"/>
                <a:ea typeface="Calibri" pitchFamily="34" charset="-122"/>
                <a:cs typeface="Calibri" pitchFamily="34" charset="-120"/>
              </a:rPr>
              <a:t>mAP@50</a:t>
            </a:r>
            <a:endParaRPr lang="en-US" sz="1500" dirty="0"/>
          </a:p>
        </p:txBody>
      </p:sp>
      <p:sp>
        <p:nvSpPr>
          <p:cNvPr id="19" name="Text 16"/>
          <p:cNvSpPr/>
          <p:nvPr/>
        </p:nvSpPr>
        <p:spPr>
          <a:xfrm>
            <a:off x="8595360" y="4535424"/>
            <a:ext cx="2926080" cy="411480"/>
          </a:xfrm>
          <a:prstGeom prst="rect">
            <a:avLst/>
          </a:prstGeom>
          <a:noFill/>
          <a:ln/>
        </p:spPr>
        <p:txBody>
          <a:bodyPr wrap="square" lIns="0" tIns="0" rIns="0" bIns="0" rtlCol="0" anchor="t"/>
          <a:lstStyle/>
          <a:p>
            <a:pPr indent="0" marL="0">
              <a:buNone/>
            </a:pPr>
            <a:r>
              <a:rPr lang="en-US" sz="1200" dirty="0">
                <a:solidFill>
                  <a:srgbClr val="5A6F62"/>
                </a:solidFill>
                <a:latin typeface="Calibri" pitchFamily="34" charset="0"/>
                <a:ea typeface="Calibri" pitchFamily="34" charset="-122"/>
                <a:cs typeface="Calibri" pitchFamily="34" charset="-120"/>
              </a:rPr>
              <a:t>calidad de localización (auxiliar)</a:t>
            </a:r>
            <a:endParaRPr lang="en-US" sz="1200" dirty="0"/>
          </a:p>
        </p:txBody>
      </p:sp>
      <p:sp>
        <p:nvSpPr>
          <p:cNvPr id="20" name="Text 1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1" name="Text 1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INFERENCIA</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Arquitectura del servicio</a:t>
            </a:r>
            <a:endParaRPr lang="en-US" sz="3000" dirty="0"/>
          </a:p>
        </p:txBody>
      </p:sp>
      <p:sp>
        <p:nvSpPr>
          <p:cNvPr id="6" name="Shape 3"/>
          <p:cNvSpPr/>
          <p:nvPr/>
        </p:nvSpPr>
        <p:spPr>
          <a:xfrm>
            <a:off x="457200" y="2331720"/>
            <a:ext cx="1828800" cy="868680"/>
          </a:xfrm>
          <a:prstGeom prst="roundRect">
            <a:avLst>
              <a:gd name="adj" fmla="val 8421"/>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7" name="Text 4"/>
          <p:cNvSpPr/>
          <p:nvPr/>
        </p:nvSpPr>
        <p:spPr>
          <a:xfrm>
            <a:off x="457200" y="2331720"/>
            <a:ext cx="1828800" cy="868680"/>
          </a:xfrm>
          <a:prstGeom prst="rect">
            <a:avLst/>
          </a:prstGeom>
          <a:noFill/>
          <a:ln/>
        </p:spPr>
        <p:txBody>
          <a:bodyPr wrap="square" lIns="25400" tIns="25400" rIns="25400" bIns="25400" rtlCol="0" anchor="ctr"/>
          <a:lstStyle/>
          <a:p>
            <a:pPr algn="ctr" indent="0" marL="0">
              <a:buNone/>
            </a:pPr>
            <a:r>
              <a:rPr lang="en-US" sz="1250" b="1" dirty="0">
                <a:solidFill>
                  <a:srgbClr val="16231C"/>
                </a:solidFill>
                <a:latin typeface="Calibri" pitchFamily="34" charset="0"/>
                <a:ea typeface="Calibri" pitchFamily="34" charset="-122"/>
                <a:cs typeface="Calibri" pitchFamily="34" charset="-120"/>
              </a:rPr>
              <a:t>Cliente</a:t>
            </a:r>
            <a:endParaRPr lang="en-US" sz="1250" dirty="0"/>
          </a:p>
          <a:p>
            <a:pPr algn="ctr" indent="0" marL="0">
              <a:buNone/>
            </a:pPr>
            <a:r>
              <a:rPr lang="en-US" sz="1250" b="1" dirty="0">
                <a:solidFill>
                  <a:srgbClr val="16231C"/>
                </a:solidFill>
                <a:latin typeface="Calibri" pitchFamily="34" charset="0"/>
                <a:ea typeface="Calibri" pitchFamily="34" charset="-122"/>
                <a:cs typeface="Calibri" pitchFamily="34" charset="-120"/>
              </a:rPr>
              <a:t>HTTP</a:t>
            </a:r>
            <a:endParaRPr lang="en-US" sz="1250" dirty="0"/>
          </a:p>
        </p:txBody>
      </p:sp>
      <p:sp>
        <p:nvSpPr>
          <p:cNvPr id="8" name="Shape 5"/>
          <p:cNvSpPr/>
          <p:nvPr/>
        </p:nvSpPr>
        <p:spPr>
          <a:xfrm>
            <a:off x="3108960" y="2331720"/>
            <a:ext cx="2011680" cy="868680"/>
          </a:xfrm>
          <a:prstGeom prst="roundRect">
            <a:avLst>
              <a:gd name="adj" fmla="val 8421"/>
            </a:avLst>
          </a:prstGeom>
          <a:solidFill>
            <a:srgbClr val="14201A"/>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9" name="Text 6"/>
          <p:cNvSpPr/>
          <p:nvPr/>
        </p:nvSpPr>
        <p:spPr>
          <a:xfrm>
            <a:off x="3108960" y="2331720"/>
            <a:ext cx="2011680" cy="86868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FastAPI</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(HTTP server)</a:t>
            </a:r>
            <a:endParaRPr lang="en-US" sz="1250" dirty="0"/>
          </a:p>
        </p:txBody>
      </p:sp>
      <p:sp>
        <p:nvSpPr>
          <p:cNvPr id="10" name="Shape 7"/>
          <p:cNvSpPr/>
          <p:nvPr/>
        </p:nvSpPr>
        <p:spPr>
          <a:xfrm>
            <a:off x="5943600" y="2331720"/>
            <a:ext cx="2011680" cy="868680"/>
          </a:xfrm>
          <a:prstGeom prst="roundRect">
            <a:avLst>
              <a:gd name="adj" fmla="val 8421"/>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1" name="Text 8"/>
          <p:cNvSpPr/>
          <p:nvPr/>
        </p:nvSpPr>
        <p:spPr>
          <a:xfrm>
            <a:off x="5943600" y="2331720"/>
            <a:ext cx="2011680" cy="868680"/>
          </a:xfrm>
          <a:prstGeom prst="rect">
            <a:avLst/>
          </a:prstGeom>
          <a:noFill/>
          <a:ln/>
        </p:spPr>
        <p:txBody>
          <a:bodyPr wrap="square" lIns="25400" tIns="25400" rIns="25400" bIns="25400" rtlCol="0" anchor="ctr"/>
          <a:lstStyle/>
          <a:p>
            <a:pPr algn="ctr" indent="0" marL="0">
              <a:buNone/>
            </a:pPr>
            <a:r>
              <a:rPr lang="en-US" sz="1250" b="1" dirty="0">
                <a:solidFill>
                  <a:srgbClr val="16231C"/>
                </a:solidFill>
                <a:latin typeface="Calibri" pitchFamily="34" charset="0"/>
                <a:ea typeface="Calibri" pitchFamily="34" charset="-122"/>
                <a:cs typeface="Calibri" pitchFamily="34" charset="-120"/>
              </a:rPr>
              <a:t>Código</a:t>
            </a:r>
            <a:endParaRPr lang="en-US" sz="1250" dirty="0"/>
          </a:p>
          <a:p>
            <a:pPr algn="ctr" indent="0" marL="0">
              <a:buNone/>
            </a:pPr>
            <a:r>
              <a:rPr lang="en-US" sz="1250" b="1" dirty="0">
                <a:solidFill>
                  <a:srgbClr val="16231C"/>
                </a:solidFill>
                <a:latin typeface="Calibri" pitchFamily="34" charset="0"/>
                <a:ea typeface="Calibri" pitchFamily="34" charset="-122"/>
                <a:cs typeface="Calibri" pitchFamily="34" charset="-120"/>
              </a:rPr>
              <a:t>Python</a:t>
            </a:r>
            <a:endParaRPr lang="en-US" sz="1250" dirty="0"/>
          </a:p>
        </p:txBody>
      </p:sp>
      <p:sp>
        <p:nvSpPr>
          <p:cNvPr id="12" name="Shape 9"/>
          <p:cNvSpPr/>
          <p:nvPr/>
        </p:nvSpPr>
        <p:spPr>
          <a:xfrm>
            <a:off x="8778240" y="2331720"/>
            <a:ext cx="1828800" cy="868680"/>
          </a:xfrm>
          <a:prstGeom prst="roundRect">
            <a:avLst>
              <a:gd name="adj" fmla="val 8421"/>
            </a:avLst>
          </a:prstGeom>
          <a:solidFill>
            <a:srgbClr val="14201A"/>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3" name="Text 10"/>
          <p:cNvSpPr/>
          <p:nvPr/>
        </p:nvSpPr>
        <p:spPr>
          <a:xfrm>
            <a:off x="8778240" y="2331720"/>
            <a:ext cx="1828800" cy="86868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Modelo</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(YOLO / clásico)</a:t>
            </a:r>
            <a:endParaRPr lang="en-US" sz="1250" dirty="0"/>
          </a:p>
        </p:txBody>
      </p:sp>
      <p:sp>
        <p:nvSpPr>
          <p:cNvPr id="14" name="Shape 11"/>
          <p:cNvSpPr/>
          <p:nvPr/>
        </p:nvSpPr>
        <p:spPr>
          <a:xfrm>
            <a:off x="2331720" y="2697480"/>
            <a:ext cx="731520" cy="0"/>
          </a:xfrm>
          <a:prstGeom prst="line">
            <a:avLst/>
          </a:prstGeom>
          <a:noFill/>
          <a:ln w="22225">
            <a:solidFill>
              <a:srgbClr val="C68A3E"/>
            </a:solidFill>
            <a:prstDash val="solid"/>
            <a:tailEnd type="triangle"/>
          </a:ln>
        </p:spPr>
      </p:sp>
      <p:sp>
        <p:nvSpPr>
          <p:cNvPr id="15" name="Text 12"/>
          <p:cNvSpPr/>
          <p:nvPr/>
        </p:nvSpPr>
        <p:spPr>
          <a:xfrm>
            <a:off x="2240280" y="2313432"/>
            <a:ext cx="1280160" cy="320040"/>
          </a:xfrm>
          <a:prstGeom prst="rect">
            <a:avLst/>
          </a:prstGeom>
          <a:noFill/>
          <a:ln/>
        </p:spPr>
        <p:txBody>
          <a:bodyPr wrap="square" lIns="0" tIns="0" rIns="0" bIns="0" rtlCol="0" anchor="ctr"/>
          <a:lstStyle/>
          <a:p>
            <a:pPr algn="ctr" indent="0" marL="0">
              <a:buNone/>
            </a:pPr>
            <a:r>
              <a:rPr lang="en-US" sz="950" dirty="0">
                <a:solidFill>
                  <a:srgbClr val="5A6F62"/>
                </a:solidFill>
                <a:latin typeface="Calibri" pitchFamily="34" charset="0"/>
                <a:ea typeface="Calibri" pitchFamily="34" charset="-122"/>
                <a:cs typeface="Calibri" pitchFamily="34" charset="-120"/>
              </a:rPr>
              <a:t>POST imagen</a:t>
            </a:r>
            <a:endParaRPr lang="en-US" sz="950" dirty="0"/>
          </a:p>
        </p:txBody>
      </p:sp>
      <p:sp>
        <p:nvSpPr>
          <p:cNvPr id="16" name="Shape 13"/>
          <p:cNvSpPr/>
          <p:nvPr/>
        </p:nvSpPr>
        <p:spPr>
          <a:xfrm>
            <a:off x="5166360" y="2697480"/>
            <a:ext cx="731520" cy="0"/>
          </a:xfrm>
          <a:prstGeom prst="line">
            <a:avLst/>
          </a:prstGeom>
          <a:noFill/>
          <a:ln w="22225">
            <a:solidFill>
              <a:srgbClr val="C68A3E"/>
            </a:solidFill>
            <a:prstDash val="solid"/>
            <a:tailEnd type="triangle"/>
          </a:ln>
        </p:spPr>
      </p:sp>
      <p:sp>
        <p:nvSpPr>
          <p:cNvPr id="17" name="Text 14"/>
          <p:cNvSpPr/>
          <p:nvPr/>
        </p:nvSpPr>
        <p:spPr>
          <a:xfrm>
            <a:off x="5074920" y="2313432"/>
            <a:ext cx="1280160" cy="320040"/>
          </a:xfrm>
          <a:prstGeom prst="rect">
            <a:avLst/>
          </a:prstGeom>
          <a:noFill/>
          <a:ln/>
        </p:spPr>
        <p:txBody>
          <a:bodyPr wrap="square" lIns="0" tIns="0" rIns="0" bIns="0" rtlCol="0" anchor="ctr"/>
          <a:lstStyle/>
          <a:p>
            <a:pPr algn="ctr" indent="0" marL="0">
              <a:buNone/>
            </a:pPr>
            <a:r>
              <a:rPr lang="en-US" sz="950" dirty="0">
                <a:solidFill>
                  <a:srgbClr val="5A6F62"/>
                </a:solidFill>
                <a:latin typeface="Calibri" pitchFamily="34" charset="0"/>
                <a:ea typeface="Calibri" pitchFamily="34" charset="-122"/>
                <a:cs typeface="Calibri" pitchFamily="34" charset="-120"/>
              </a:rPr>
              <a:t>imagen</a:t>
            </a:r>
            <a:endParaRPr lang="en-US" sz="950" dirty="0"/>
          </a:p>
        </p:txBody>
      </p:sp>
      <p:sp>
        <p:nvSpPr>
          <p:cNvPr id="18" name="Shape 15"/>
          <p:cNvSpPr/>
          <p:nvPr/>
        </p:nvSpPr>
        <p:spPr>
          <a:xfrm>
            <a:off x="8001000" y="2697480"/>
            <a:ext cx="731520" cy="0"/>
          </a:xfrm>
          <a:prstGeom prst="line">
            <a:avLst/>
          </a:prstGeom>
          <a:noFill/>
          <a:ln w="22225">
            <a:solidFill>
              <a:srgbClr val="C68A3E"/>
            </a:solidFill>
            <a:prstDash val="solid"/>
            <a:tailEnd type="triangle"/>
          </a:ln>
        </p:spPr>
      </p:sp>
      <p:sp>
        <p:nvSpPr>
          <p:cNvPr id="19" name="Text 16"/>
          <p:cNvSpPr/>
          <p:nvPr/>
        </p:nvSpPr>
        <p:spPr>
          <a:xfrm>
            <a:off x="7909560" y="2313432"/>
            <a:ext cx="1280160" cy="320040"/>
          </a:xfrm>
          <a:prstGeom prst="rect">
            <a:avLst/>
          </a:prstGeom>
          <a:noFill/>
          <a:ln/>
        </p:spPr>
        <p:txBody>
          <a:bodyPr wrap="square" lIns="0" tIns="0" rIns="0" bIns="0" rtlCol="0" anchor="ctr"/>
          <a:lstStyle/>
          <a:p>
            <a:pPr algn="ctr" indent="0" marL="0">
              <a:buNone/>
            </a:pPr>
            <a:r>
              <a:rPr lang="en-US" sz="950" dirty="0">
                <a:solidFill>
                  <a:srgbClr val="5A6F62"/>
                </a:solidFill>
                <a:latin typeface="Calibri" pitchFamily="34" charset="0"/>
                <a:ea typeface="Calibri" pitchFamily="34" charset="-122"/>
                <a:cs typeface="Calibri" pitchFamily="34" charset="-120"/>
              </a:rPr>
              <a:t>imagen</a:t>
            </a:r>
            <a:endParaRPr lang="en-US" sz="950" dirty="0"/>
          </a:p>
        </p:txBody>
      </p:sp>
      <p:sp>
        <p:nvSpPr>
          <p:cNvPr id="20" name="Text 17"/>
          <p:cNvSpPr/>
          <p:nvPr/>
        </p:nvSpPr>
        <p:spPr>
          <a:xfrm>
            <a:off x="3017520" y="3337560"/>
            <a:ext cx="5029200" cy="320040"/>
          </a:xfrm>
          <a:prstGeom prst="rect">
            <a:avLst/>
          </a:prstGeom>
          <a:noFill/>
          <a:ln/>
        </p:spPr>
        <p:txBody>
          <a:bodyPr wrap="square" lIns="0" tIns="0" rIns="0" bIns="0" rtlCol="0" anchor="ctr"/>
          <a:lstStyle/>
          <a:p>
            <a:pPr indent="0" marL="0">
              <a:buNone/>
            </a:pPr>
            <a:r>
              <a:rPr lang="en-US" sz="1100" i="1" dirty="0">
                <a:solidFill>
                  <a:srgbClr val="2F7D52"/>
                </a:solidFill>
                <a:latin typeface="Calibri" pitchFamily="34" charset="0"/>
                <a:ea typeface="Calibri" pitchFamily="34" charset="-122"/>
                <a:cs typeface="Calibri" pitchFamily="34" charset="-120"/>
              </a:rPr>
              <a:t>← {success, cantidad}</a:t>
            </a:r>
            <a:endParaRPr lang="en-US" sz="1100" dirty="0"/>
          </a:p>
        </p:txBody>
      </p:sp>
      <p:sp>
        <p:nvSpPr>
          <p:cNvPr id="21" name="Shape 18"/>
          <p:cNvSpPr/>
          <p:nvPr/>
        </p:nvSpPr>
        <p:spPr>
          <a:xfrm>
            <a:off x="3108960" y="4023360"/>
            <a:ext cx="2011680" cy="822960"/>
          </a:xfrm>
          <a:prstGeom prst="roundRect">
            <a:avLst>
              <a:gd name="adj" fmla="val 8889"/>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2" name="Text 19"/>
          <p:cNvSpPr/>
          <p:nvPr/>
        </p:nvSpPr>
        <p:spPr>
          <a:xfrm>
            <a:off x="3108960" y="4023360"/>
            <a:ext cx="2011680" cy="822960"/>
          </a:xfrm>
          <a:prstGeom prst="rect">
            <a:avLst/>
          </a:prstGeom>
          <a:noFill/>
          <a:ln/>
        </p:spPr>
        <p:txBody>
          <a:bodyPr wrap="square" lIns="25400" tIns="25400" rIns="25400" bIns="25400" rtlCol="0" anchor="ctr"/>
          <a:lstStyle/>
          <a:p>
            <a:pPr algn="ctr" indent="0" marL="0">
              <a:buNone/>
            </a:pPr>
            <a:r>
              <a:rPr lang="en-US" sz="1250" b="1" dirty="0">
                <a:solidFill>
                  <a:srgbClr val="16231C"/>
                </a:solidFill>
                <a:latin typeface="Calibri" pitchFamily="34" charset="0"/>
                <a:ea typeface="Calibri" pitchFamily="34" charset="-122"/>
                <a:cs typeface="Calibri" pitchFamily="34" charset="-120"/>
              </a:rPr>
              <a:t>Repositorio</a:t>
            </a:r>
            <a:endParaRPr lang="en-US" sz="1250" dirty="0"/>
          </a:p>
        </p:txBody>
      </p:sp>
      <p:sp>
        <p:nvSpPr>
          <p:cNvPr id="23" name="Shape 20"/>
          <p:cNvSpPr/>
          <p:nvPr/>
        </p:nvSpPr>
        <p:spPr>
          <a:xfrm>
            <a:off x="4114800" y="3200400"/>
            <a:ext cx="0" cy="777240"/>
          </a:xfrm>
          <a:prstGeom prst="line">
            <a:avLst/>
          </a:prstGeom>
          <a:noFill/>
          <a:ln w="22225">
            <a:solidFill>
              <a:srgbClr val="C68A3E"/>
            </a:solidFill>
            <a:prstDash val="solid"/>
            <a:tailEnd type="triangle"/>
          </a:ln>
        </p:spPr>
      </p:sp>
      <p:sp>
        <p:nvSpPr>
          <p:cNvPr id="24" name="Text 21"/>
          <p:cNvSpPr/>
          <p:nvPr/>
        </p:nvSpPr>
        <p:spPr>
          <a:xfrm>
            <a:off x="5212080" y="3566160"/>
            <a:ext cx="2743200" cy="274320"/>
          </a:xfrm>
          <a:prstGeom prst="rect">
            <a:avLst/>
          </a:prstGeom>
          <a:noFill/>
          <a:ln/>
        </p:spPr>
        <p:txBody>
          <a:bodyPr wrap="square" lIns="0" tIns="0" rIns="0" bIns="0" rtlCol="0" anchor="ctr"/>
          <a:lstStyle/>
          <a:p>
            <a:pPr indent="0" marL="0">
              <a:buNone/>
            </a:pPr>
            <a:r>
              <a:rPr lang="en-US" sz="950" dirty="0">
                <a:solidFill>
                  <a:srgbClr val="5A6F62"/>
                </a:solidFill>
                <a:latin typeface="Calibri" pitchFamily="34" charset="0"/>
                <a:ea typeface="Calibri" pitchFamily="34" charset="-122"/>
                <a:cs typeface="Calibri" pitchFamily="34" charset="-120"/>
              </a:rPr>
              <a:t>IMAGEN* + metadatos</a:t>
            </a:r>
            <a:endParaRPr lang="en-US" sz="950" dirty="0"/>
          </a:p>
        </p:txBody>
      </p:sp>
      <p:sp>
        <p:nvSpPr>
          <p:cNvPr id="25" name="Shape 22"/>
          <p:cNvSpPr/>
          <p:nvPr/>
        </p:nvSpPr>
        <p:spPr>
          <a:xfrm>
            <a:off x="457200" y="5074920"/>
            <a:ext cx="361188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6" name="Text 23"/>
          <p:cNvSpPr/>
          <p:nvPr/>
        </p:nvSpPr>
        <p:spPr>
          <a:xfrm>
            <a:off x="685800" y="5212080"/>
            <a:ext cx="3200400" cy="320040"/>
          </a:xfrm>
          <a:prstGeom prst="rect">
            <a:avLst/>
          </a:prstGeom>
          <a:noFill/>
          <a:ln/>
        </p:spPr>
        <p:txBody>
          <a:bodyPr wrap="square" lIns="0" tIns="0" rIns="0" bIns="0" rtlCol="0" anchor="ctr"/>
          <a:lstStyle/>
          <a:p>
            <a:pPr indent="0" marL="0">
              <a:buNone/>
            </a:pPr>
            <a:r>
              <a:rPr lang="en-US" sz="1300" b="1" dirty="0">
                <a:solidFill>
                  <a:srgbClr val="2F7D52"/>
                </a:solidFill>
                <a:latin typeface="Calibri" pitchFamily="34" charset="0"/>
                <a:ea typeface="Calibri" pitchFamily="34" charset="-122"/>
                <a:cs typeface="Calibri" pitchFamily="34" charset="-120"/>
              </a:rPr>
              <a:t>success</a:t>
            </a:r>
            <a:endParaRPr lang="en-US" sz="1300" dirty="0"/>
          </a:p>
        </p:txBody>
      </p:sp>
      <p:sp>
        <p:nvSpPr>
          <p:cNvPr id="27" name="Text 24"/>
          <p:cNvSpPr/>
          <p:nvPr/>
        </p:nvSpPr>
        <p:spPr>
          <a:xfrm>
            <a:off x="685800" y="5532120"/>
            <a:ext cx="3200400" cy="731520"/>
          </a:xfrm>
          <a:prstGeom prst="rect">
            <a:avLst/>
          </a:prstGeom>
          <a:noFill/>
          <a:ln/>
        </p:spPr>
        <p:txBody>
          <a:bodyPr wrap="square" lIns="0" tIns="0" rIns="0" bIns="0" rtlCol="0" anchor="t"/>
          <a:lstStyle/>
          <a:p>
            <a:pPr indent="0" marL="0">
              <a:lnSpc>
                <a:spcPct val="105000"/>
              </a:lnSpc>
              <a:buNone/>
            </a:pPr>
            <a:r>
              <a:rPr lang="en-US" sz="1150" dirty="0">
                <a:solidFill>
                  <a:srgbClr val="5A6F62"/>
                </a:solidFill>
                <a:latin typeface="Calibri" pitchFamily="34" charset="0"/>
                <a:ea typeface="Calibri" pitchFamily="34" charset="-122"/>
                <a:cs typeface="Calibri" pitchFamily="34" charset="-120"/>
              </a:rPr>
              <a:t>Bandera de confianza: si el promedio cae bajo el umbral, avisa para revisar a mano.</a:t>
            </a:r>
            <a:endParaRPr lang="en-US" sz="1150" dirty="0"/>
          </a:p>
        </p:txBody>
      </p:sp>
      <p:sp>
        <p:nvSpPr>
          <p:cNvPr id="28" name="Shape 25"/>
          <p:cNvSpPr/>
          <p:nvPr/>
        </p:nvSpPr>
        <p:spPr>
          <a:xfrm>
            <a:off x="4270248" y="5074920"/>
            <a:ext cx="361188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9" name="Text 26"/>
          <p:cNvSpPr/>
          <p:nvPr/>
        </p:nvSpPr>
        <p:spPr>
          <a:xfrm>
            <a:off x="4498848" y="5212080"/>
            <a:ext cx="3200400" cy="320040"/>
          </a:xfrm>
          <a:prstGeom prst="rect">
            <a:avLst/>
          </a:prstGeom>
          <a:noFill/>
          <a:ln/>
        </p:spPr>
        <p:txBody>
          <a:bodyPr wrap="square" lIns="0" tIns="0" rIns="0" bIns="0" rtlCol="0" anchor="ctr"/>
          <a:lstStyle/>
          <a:p>
            <a:pPr indent="0" marL="0">
              <a:buNone/>
            </a:pPr>
            <a:r>
              <a:rPr lang="en-US" sz="1300" b="1" dirty="0">
                <a:solidFill>
                  <a:srgbClr val="2F7D52"/>
                </a:solidFill>
                <a:latin typeface="Calibri" pitchFamily="34" charset="0"/>
                <a:ea typeface="Calibri" pitchFamily="34" charset="-122"/>
                <a:cs typeface="Calibri" pitchFamily="34" charset="-120"/>
              </a:rPr>
              <a:t>IMAGEN*</a:t>
            </a:r>
            <a:endParaRPr lang="en-US" sz="1300" dirty="0"/>
          </a:p>
        </p:txBody>
      </p:sp>
      <p:sp>
        <p:nvSpPr>
          <p:cNvPr id="30" name="Text 27"/>
          <p:cNvSpPr/>
          <p:nvPr/>
        </p:nvSpPr>
        <p:spPr>
          <a:xfrm>
            <a:off x="4498848" y="5532120"/>
            <a:ext cx="3200400" cy="731520"/>
          </a:xfrm>
          <a:prstGeom prst="rect">
            <a:avLst/>
          </a:prstGeom>
          <a:noFill/>
          <a:ln/>
        </p:spPr>
        <p:txBody>
          <a:bodyPr wrap="square" lIns="0" tIns="0" rIns="0" bIns="0" rtlCol="0" anchor="t"/>
          <a:lstStyle/>
          <a:p>
            <a:pPr indent="0" marL="0">
              <a:lnSpc>
                <a:spcPct val="105000"/>
              </a:lnSpc>
              <a:buNone/>
            </a:pPr>
            <a:r>
              <a:rPr lang="en-US" sz="1150" dirty="0">
                <a:solidFill>
                  <a:srgbClr val="5A6F62"/>
                </a:solidFill>
                <a:latin typeface="Calibri" pitchFamily="34" charset="0"/>
                <a:ea typeface="Calibri" pitchFamily="34" charset="-122"/>
                <a:cs typeface="Calibri" pitchFamily="34" charset="-120"/>
              </a:rPr>
              <a:t>La imagen con contornos por grano e índice numérico, para verificación visual.</a:t>
            </a:r>
            <a:endParaRPr lang="en-US" sz="1150" dirty="0"/>
          </a:p>
        </p:txBody>
      </p:sp>
      <p:sp>
        <p:nvSpPr>
          <p:cNvPr id="31" name="Shape 28"/>
          <p:cNvSpPr/>
          <p:nvPr/>
        </p:nvSpPr>
        <p:spPr>
          <a:xfrm>
            <a:off x="8092440" y="5074920"/>
            <a:ext cx="361188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32" name="Text 29"/>
          <p:cNvSpPr/>
          <p:nvPr/>
        </p:nvSpPr>
        <p:spPr>
          <a:xfrm>
            <a:off x="8321040" y="5212080"/>
            <a:ext cx="3200400" cy="320040"/>
          </a:xfrm>
          <a:prstGeom prst="rect">
            <a:avLst/>
          </a:prstGeom>
          <a:noFill/>
          <a:ln/>
        </p:spPr>
        <p:txBody>
          <a:bodyPr wrap="square" lIns="0" tIns="0" rIns="0" bIns="0" rtlCol="0" anchor="ctr"/>
          <a:lstStyle/>
          <a:p>
            <a:pPr indent="0" marL="0">
              <a:buNone/>
            </a:pPr>
            <a:r>
              <a:rPr lang="en-US" sz="1300" b="1" dirty="0">
                <a:solidFill>
                  <a:srgbClr val="2F7D52"/>
                </a:solidFill>
                <a:latin typeface="Calibri" pitchFamily="34" charset="0"/>
                <a:ea typeface="Calibri" pitchFamily="34" charset="-122"/>
                <a:cs typeface="Calibri" pitchFamily="34" charset="-120"/>
              </a:rPr>
              <a:t>Metadatos</a:t>
            </a:r>
            <a:endParaRPr lang="en-US" sz="1300" dirty="0"/>
          </a:p>
        </p:txBody>
      </p:sp>
      <p:sp>
        <p:nvSpPr>
          <p:cNvPr id="33" name="Text 30"/>
          <p:cNvSpPr/>
          <p:nvPr/>
        </p:nvSpPr>
        <p:spPr>
          <a:xfrm>
            <a:off x="8321040" y="5532120"/>
            <a:ext cx="3200400" cy="731520"/>
          </a:xfrm>
          <a:prstGeom prst="rect">
            <a:avLst/>
          </a:prstGeom>
          <a:noFill/>
          <a:ln/>
        </p:spPr>
        <p:txBody>
          <a:bodyPr wrap="square" lIns="0" tIns="0" rIns="0" bIns="0" rtlCol="0" anchor="t"/>
          <a:lstStyle/>
          <a:p>
            <a:pPr indent="0" marL="0">
              <a:lnSpc>
                <a:spcPct val="105000"/>
              </a:lnSpc>
              <a:buNone/>
            </a:pPr>
            <a:r>
              <a:rPr lang="en-US" sz="1150" dirty="0">
                <a:solidFill>
                  <a:srgbClr val="5A6F62"/>
                </a:solidFill>
                <a:latin typeface="Calibri" pitchFamily="34" charset="0"/>
                <a:ea typeface="Calibri" pitchFamily="34" charset="-122"/>
                <a:cs typeface="Calibri" pitchFamily="34" charset="-120"/>
              </a:rPr>
              <a:t>id, timestamp, versión de modelo, N de porotos y confianza promedio.</a:t>
            </a:r>
            <a:endParaRPr lang="en-US" sz="1150" dirty="0"/>
          </a:p>
        </p:txBody>
      </p:sp>
      <p:sp>
        <p:nvSpPr>
          <p:cNvPr id="34" name="Text 3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35" name="Text 32"/>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01A"/>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4"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D8A657"/>
                </a:solidFill>
                <a:latin typeface="Calibri" pitchFamily="34" charset="0"/>
                <a:ea typeface="Calibri" pitchFamily="34" charset="-122"/>
                <a:cs typeface="Calibri" pitchFamily="34" charset="-120"/>
              </a:rPr>
              <a:t>DEMO · VIDEO (2 MIN)</a:t>
            </a:r>
            <a:endParaRPr lang="en-US" sz="1150" dirty="0"/>
          </a:p>
        </p:txBody>
      </p:sp>
      <p:sp>
        <p:nvSpPr>
          <p:cNvPr id="5" name="Text 2"/>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Subir muestra → contar → inspeccionar</a:t>
            </a:r>
            <a:endParaRPr lang="en-US" sz="3000" dirty="0"/>
          </a:p>
        </p:txBody>
      </p:sp>
      <p:sp>
        <p:nvSpPr>
          <p:cNvPr id="6" name="Shape 3"/>
          <p:cNvSpPr/>
          <p:nvPr/>
        </p:nvSpPr>
        <p:spPr>
          <a:xfrm>
            <a:off x="457200" y="1737360"/>
            <a:ext cx="6583680" cy="5238804"/>
          </a:xfrm>
          <a:prstGeom prst="roundRect">
            <a:avLst>
              <a:gd name="adj" fmla="val 1745"/>
            </a:avLst>
          </a:prstGeom>
          <a:solidFill>
            <a:srgbClr val="1C2C24"/>
          </a:solidFill>
          <a:ln w="12700">
            <a:solidFill>
              <a:srgbClr val="33503F"/>
            </a:solidFill>
            <a:prstDash val="solid"/>
          </a:ln>
          <a:effectLst>
            <a:outerShdw sx="100000" sy="100000" kx="0" ky="0" algn="bl" rotWithShape="0" blurRad="114300" dist="38100" dir="5400000">
              <a:srgbClr val="000000">
                <a:alpha val="30000"/>
              </a:srgbClr>
            </a:outerShdw>
          </a:effectLst>
        </p:spPr>
      </p:sp>
      <p:pic>
        <p:nvPicPr>
          <p:cNvPr id="7" name="Image 0" descr="/home/claude/poroto_cv/docs/deck_assets/demo_ui.png">    </p:cNvPr>
          <p:cNvPicPr>
            <a:picLocks noChangeAspect="1"/>
          </p:cNvPicPr>
          <p:nvPr/>
        </p:nvPicPr>
        <p:blipFill>
          <a:blip r:embed="rId1"/>
          <a:stretch>
            <a:fillRect/>
          </a:stretch>
        </p:blipFill>
        <p:spPr>
          <a:xfrm>
            <a:off x="548640" y="1828800"/>
            <a:ext cx="6400800" cy="5055924"/>
          </a:xfrm>
          <a:prstGeom prst="rect">
            <a:avLst/>
          </a:prstGeom>
        </p:spPr>
      </p:pic>
      <p:sp>
        <p:nvSpPr>
          <p:cNvPr id="8" name="Shape 4"/>
          <p:cNvSpPr/>
          <p:nvPr/>
        </p:nvSpPr>
        <p:spPr>
          <a:xfrm>
            <a:off x="3337560" y="3945282"/>
            <a:ext cx="822960" cy="822960"/>
          </a:xfrm>
          <a:prstGeom prst="ellipse">
            <a:avLst/>
          </a:prstGeom>
          <a:solidFill>
            <a:srgbClr val="000000">
              <a:alpha val="75000"/>
            </a:srgbClr>
          </a:solidFill>
          <a:ln w="19050">
            <a:solidFill>
              <a:srgbClr val="FFFFFF"/>
            </a:solidFill>
            <a:prstDash val="solid"/>
          </a:ln>
        </p:spPr>
      </p:sp>
      <p:sp>
        <p:nvSpPr>
          <p:cNvPr id="9" name="Text 5"/>
          <p:cNvSpPr/>
          <p:nvPr/>
        </p:nvSpPr>
        <p:spPr>
          <a:xfrm>
            <a:off x="3364992" y="3945282"/>
            <a:ext cx="822960" cy="82296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0" name="Shape 6"/>
          <p:cNvSpPr/>
          <p:nvPr/>
        </p:nvSpPr>
        <p:spPr>
          <a:xfrm>
            <a:off x="640080" y="1920240"/>
            <a:ext cx="2286000" cy="384048"/>
          </a:xfrm>
          <a:prstGeom prst="roundRect">
            <a:avLst>
              <a:gd name="adj" fmla="val 19048"/>
            </a:avLst>
          </a:prstGeom>
          <a:solidFill>
            <a:srgbClr val="C68A3E"/>
          </a:solidFill>
          <a:ln/>
        </p:spPr>
      </p:sp>
      <p:sp>
        <p:nvSpPr>
          <p:cNvPr id="11" name="Text 7"/>
          <p:cNvSpPr/>
          <p:nvPr/>
        </p:nvSpPr>
        <p:spPr>
          <a:xfrm>
            <a:off x="640080" y="1920240"/>
            <a:ext cx="2286000" cy="384048"/>
          </a:xfrm>
          <a:prstGeom prst="rect">
            <a:avLst/>
          </a:prstGeom>
          <a:noFill/>
          <a:ln/>
        </p:spPr>
        <p:txBody>
          <a:bodyPr wrap="square" lIns="0" tIns="0" rIns="0" bIns="0" rtlCol="0" anchor="ctr"/>
          <a:lstStyle/>
          <a:p>
            <a:pPr algn="ctr" indent="0" marL="0">
              <a:buNone/>
            </a:pPr>
            <a:r>
              <a:rPr lang="en-US" sz="1100" b="1" dirty="0">
                <a:solidFill>
                  <a:srgbClr val="241A08"/>
                </a:solidFill>
                <a:latin typeface="Calibri" pitchFamily="34" charset="0"/>
                <a:ea typeface="Calibri" pitchFamily="34" charset="-122"/>
                <a:cs typeface="Calibri" pitchFamily="34" charset="-120"/>
              </a:rPr>
              <a:t>▶  VIDEO · 2 MIN</a:t>
            </a:r>
            <a:endParaRPr lang="en-US" sz="1100" dirty="0"/>
          </a:p>
        </p:txBody>
      </p:sp>
      <p:sp>
        <p:nvSpPr>
          <p:cNvPr id="12" name="Text 8"/>
          <p:cNvSpPr/>
          <p:nvPr/>
        </p:nvSpPr>
        <p:spPr>
          <a:xfrm>
            <a:off x="7772400" y="1828800"/>
            <a:ext cx="3931920" cy="365760"/>
          </a:xfrm>
          <a:prstGeom prst="rect">
            <a:avLst/>
          </a:prstGeom>
          <a:noFill/>
          <a:ln/>
        </p:spPr>
        <p:txBody>
          <a:bodyPr wrap="square" lIns="0" tIns="0" rIns="0" bIns="0" rtlCol="0" anchor="ctr"/>
          <a:lstStyle/>
          <a:p>
            <a:pPr indent="0" marL="0">
              <a:buNone/>
            </a:pPr>
            <a:r>
              <a:rPr lang="en-US" sz="1500" b="1" dirty="0">
                <a:solidFill>
                  <a:srgbClr val="D8A657"/>
                </a:solidFill>
                <a:latin typeface="Calibri" pitchFamily="34" charset="0"/>
                <a:ea typeface="Calibri" pitchFamily="34" charset="-122"/>
                <a:cs typeface="Calibri" pitchFamily="34" charset="-120"/>
              </a:rPr>
              <a:t>Lo que ves en pantalla</a:t>
            </a:r>
            <a:endParaRPr lang="en-US" sz="1500" dirty="0"/>
          </a:p>
        </p:txBody>
      </p:sp>
      <p:sp>
        <p:nvSpPr>
          <p:cNvPr id="13" name="Text 9"/>
          <p:cNvSpPr/>
          <p:nvPr/>
        </p:nvSpPr>
        <p:spPr>
          <a:xfrm>
            <a:off x="7772400" y="2286000"/>
            <a:ext cx="3931920" cy="2011680"/>
          </a:xfrm>
          <a:prstGeom prst="rect">
            <a:avLst/>
          </a:prstGeom>
          <a:noFill/>
          <a:ln/>
        </p:spPr>
        <p:txBody>
          <a:bodyPr wrap="square" rtlCol="0" anchor="t"/>
          <a:lstStyle/>
          <a:p>
            <a:pPr marL="342900" indent="-342900">
              <a:spcAft>
                <a:spcPts val="700"/>
              </a:spcAft>
              <a:buSzPct val="100000"/>
              <a:buChar char="•"/>
            </a:pPr>
            <a:r>
              <a:rPr lang="en-US" sz="1300" dirty="0">
                <a:solidFill>
                  <a:srgbClr val="D8E5DC"/>
                </a:solidFill>
                <a:latin typeface="Calibri" pitchFamily="34" charset="0"/>
                <a:ea typeface="Calibri" pitchFamily="34" charset="-122"/>
                <a:cs typeface="Calibri" pitchFamily="34" charset="-120"/>
              </a:rPr>
              <a:t>Visor con la IMAGEN* devuelta por el repositorio.</a:t>
            </a:r>
            <a:endParaRPr lang="en-US" sz="1300" dirty="0"/>
          </a:p>
          <a:p>
            <a:pPr marL="342900" indent="-342900">
              <a:spcAft>
                <a:spcPts val="700"/>
              </a:spcAft>
              <a:buSzPct val="100000"/>
              <a:buChar char="•"/>
            </a:pPr>
            <a:r>
              <a:rPr lang="en-US" sz="1300" dirty="0">
                <a:solidFill>
                  <a:srgbClr val="D8E5DC"/>
                </a:solidFill>
                <a:latin typeface="Calibri" pitchFamily="34" charset="0"/>
                <a:ea typeface="Calibri" pitchFamily="34" charset="-122"/>
                <a:cs typeface="Calibri" pitchFamily="34" charset="-120"/>
              </a:rPr>
              <a:t>Lámpara de estado para success.</a:t>
            </a:r>
            <a:endParaRPr lang="en-US" sz="1300" dirty="0"/>
          </a:p>
          <a:p>
            <a:pPr marL="342900" indent="-342900">
              <a:spcAft>
                <a:spcPts val="700"/>
              </a:spcAft>
              <a:buSzPct val="100000"/>
              <a:buChar char="•"/>
            </a:pPr>
            <a:r>
              <a:rPr lang="en-US" sz="1300" dirty="0">
                <a:solidFill>
                  <a:srgbClr val="D8E5DC"/>
                </a:solidFill>
                <a:latin typeface="Calibri" pitchFamily="34" charset="0"/>
                <a:ea typeface="Calibri" pitchFamily="34" charset="-122"/>
                <a:cs typeface="Calibri" pitchFamily="34" charset="-120"/>
              </a:rPr>
              <a:t>Conteo y confianza promedio.</a:t>
            </a:r>
            <a:endParaRPr lang="en-US" sz="1300" dirty="0"/>
          </a:p>
          <a:p>
            <a:pPr marL="342900" indent="-342900">
              <a:spcAft>
                <a:spcPts val="700"/>
              </a:spcAft>
              <a:buSzPct val="100000"/>
              <a:buChar char="•"/>
            </a:pPr>
            <a:r>
              <a:rPr lang="en-US" sz="1300" dirty="0">
                <a:solidFill>
                  <a:srgbClr val="D8E5DC"/>
                </a:solidFill>
                <a:latin typeface="Calibri" pitchFamily="34" charset="0"/>
                <a:ea typeface="Calibri" pitchFamily="34" charset="-122"/>
                <a:cs typeface="Calibri" pitchFamily="34" charset="-120"/>
              </a:rPr>
              <a:t>JSON de metadatos descargable.</a:t>
            </a:r>
            <a:endParaRPr lang="en-US" sz="1300" dirty="0"/>
          </a:p>
        </p:txBody>
      </p:sp>
      <p:sp>
        <p:nvSpPr>
          <p:cNvPr id="14" name="Shape 10"/>
          <p:cNvSpPr/>
          <p:nvPr/>
        </p:nvSpPr>
        <p:spPr>
          <a:xfrm>
            <a:off x="7772400" y="4343400"/>
            <a:ext cx="3931920" cy="1554480"/>
          </a:xfrm>
          <a:prstGeom prst="roundRect">
            <a:avLst>
              <a:gd name="adj" fmla="val 5882"/>
            </a:avLst>
          </a:prstGeom>
          <a:solidFill>
            <a:srgbClr val="1C2C24"/>
          </a:solidFill>
          <a:ln w="12700">
            <a:solidFill>
              <a:srgbClr val="33503F"/>
            </a:solidFill>
            <a:prstDash val="solid"/>
          </a:ln>
        </p:spPr>
      </p:sp>
      <p:sp>
        <p:nvSpPr>
          <p:cNvPr id="15" name="Text 11"/>
          <p:cNvSpPr/>
          <p:nvPr/>
        </p:nvSpPr>
        <p:spPr>
          <a:xfrm>
            <a:off x="8001000" y="4498848"/>
            <a:ext cx="347472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Video grabado, narrado en vivo</a:t>
            </a:r>
            <a:endParaRPr lang="en-US" sz="1350" dirty="0"/>
          </a:p>
        </p:txBody>
      </p:sp>
      <p:sp>
        <p:nvSpPr>
          <p:cNvPr id="16" name="Text 12"/>
          <p:cNvSpPr/>
          <p:nvPr/>
        </p:nvSpPr>
        <p:spPr>
          <a:xfrm>
            <a:off x="8001000" y="4864608"/>
            <a:ext cx="3474720" cy="914400"/>
          </a:xfrm>
          <a:prstGeom prst="rect">
            <a:avLst/>
          </a:prstGeom>
          <a:noFill/>
          <a:ln/>
        </p:spPr>
        <p:txBody>
          <a:bodyPr wrap="square" lIns="0" tIns="0" rIns="0" bIns="0" rtlCol="0" anchor="t"/>
          <a:lstStyle/>
          <a:p>
            <a:pPr indent="0" marL="0">
              <a:lnSpc>
                <a:spcPct val="110000"/>
              </a:lnSpc>
              <a:buNone/>
            </a:pPr>
            <a:r>
              <a:rPr lang="en-US" sz="1200" dirty="0">
                <a:solidFill>
                  <a:srgbClr val="AFC6B7"/>
                </a:solidFill>
                <a:latin typeface="Calibri" pitchFamily="34" charset="0"/>
                <a:ea typeface="Calibri" pitchFamily="34" charset="-122"/>
                <a:cs typeface="Calibri" pitchFamily="34" charset="-120"/>
              </a:rPr>
              <a:t>Se graba con la demo local (FastAPI) y se reproduce acá durante la defensa. Corre con el YOLOv8n entrenado.</a:t>
            </a:r>
            <a:endParaRPr lang="en-US" sz="1200" dirty="0"/>
          </a:p>
        </p:txBody>
      </p:sp>
      <p:sp>
        <p:nvSpPr>
          <p:cNvPr id="17" name="Text 1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8" name="Text 14"/>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RESULTADOS</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Baseline real y comparativa de enfoques</a:t>
            </a:r>
            <a:endParaRPr lang="en-US" sz="3000" dirty="0"/>
          </a:p>
        </p:txBody>
      </p:sp>
      <p:sp>
        <p:nvSpPr>
          <p:cNvPr id="6" name="Shape 3"/>
          <p:cNvSpPr/>
          <p:nvPr/>
        </p:nvSpPr>
        <p:spPr>
          <a:xfrm>
            <a:off x="457200" y="1874520"/>
            <a:ext cx="3383280" cy="3383280"/>
          </a:xfrm>
          <a:prstGeom prst="roundRect">
            <a:avLst>
              <a:gd name="adj" fmla="val 2703"/>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pic>
        <p:nvPicPr>
          <p:cNvPr id="7" name="Image 0" descr="/home/claude/poroto_cv/docs/deck_assets/imagen_estrella.jpg">    </p:cNvPr>
          <p:cNvPicPr>
            <a:picLocks noChangeAspect="1"/>
          </p:cNvPicPr>
          <p:nvPr/>
        </p:nvPicPr>
        <p:blipFill>
          <a:blip r:embed="rId1"/>
          <a:stretch>
            <a:fillRect/>
          </a:stretch>
        </p:blipFill>
        <p:spPr>
          <a:xfrm>
            <a:off x="548640" y="1965960"/>
            <a:ext cx="3200400" cy="3200400"/>
          </a:xfrm>
          <a:prstGeom prst="rect">
            <a:avLst/>
          </a:prstGeom>
        </p:spPr>
      </p:pic>
      <p:sp>
        <p:nvSpPr>
          <p:cNvPr id="8" name="Text 4"/>
          <p:cNvSpPr/>
          <p:nvPr/>
        </p:nvSpPr>
        <p:spPr>
          <a:xfrm>
            <a:off x="457200" y="5276088"/>
            <a:ext cx="3383280" cy="365760"/>
          </a:xfrm>
          <a:prstGeom prst="rect">
            <a:avLst/>
          </a:prstGeom>
          <a:noFill/>
          <a:ln/>
        </p:spPr>
        <p:txBody>
          <a:bodyPr wrap="square" lIns="0" tIns="0" rIns="0" bIns="0" rtlCol="0" anchor="ctr"/>
          <a:lstStyle/>
          <a:p>
            <a:pPr algn="ctr" indent="0" marL="0">
              <a:buNone/>
            </a:pPr>
            <a:r>
              <a:rPr lang="en-US" sz="1100" i="1" dirty="0">
                <a:solidFill>
                  <a:srgbClr val="5A6F62"/>
                </a:solidFill>
                <a:latin typeface="Calibri" pitchFamily="34" charset="0"/>
                <a:ea typeface="Calibri" pitchFamily="34" charset="-122"/>
                <a:cs typeface="Calibri" pitchFamily="34" charset="-120"/>
              </a:rPr>
              <a:t>Baseline clásico: 22 detectados vs 23 reales</a:t>
            </a:r>
            <a:endParaRPr lang="en-US" sz="1100" dirty="0"/>
          </a:p>
        </p:txBody>
      </p:sp>
      <p:sp>
        <p:nvSpPr>
          <p:cNvPr id="9" name="Text 5"/>
          <p:cNvSpPr/>
          <p:nvPr/>
        </p:nvSpPr>
        <p:spPr>
          <a:xfrm>
            <a:off x="4160520" y="1965960"/>
            <a:ext cx="2194560" cy="731520"/>
          </a:xfrm>
          <a:prstGeom prst="rect">
            <a:avLst/>
          </a:prstGeom>
          <a:noFill/>
          <a:ln/>
        </p:spPr>
        <p:txBody>
          <a:bodyPr wrap="square" lIns="0" tIns="0" rIns="0" bIns="0" rtlCol="0" anchor="ctr"/>
          <a:lstStyle/>
          <a:p>
            <a:pPr indent="0" marL="0">
              <a:buNone/>
            </a:pPr>
            <a:r>
              <a:rPr lang="en-US" sz="3400" b="1" dirty="0">
                <a:solidFill>
                  <a:srgbClr val="C68A3E"/>
                </a:solidFill>
                <a:latin typeface="Calibri" pitchFamily="34" charset="0"/>
                <a:ea typeface="Calibri" pitchFamily="34" charset="-122"/>
                <a:cs typeface="Calibri" pitchFamily="34" charset="-120"/>
              </a:rPr>
              <a:t>6.5</a:t>
            </a:r>
            <a:endParaRPr lang="en-US" sz="3400" dirty="0"/>
          </a:p>
        </p:txBody>
      </p:sp>
      <p:sp>
        <p:nvSpPr>
          <p:cNvPr id="10" name="Text 6"/>
          <p:cNvSpPr/>
          <p:nvPr/>
        </p:nvSpPr>
        <p:spPr>
          <a:xfrm>
            <a:off x="4160520" y="2724912"/>
            <a:ext cx="2194560" cy="457200"/>
          </a:xfrm>
          <a:prstGeom prst="rect">
            <a:avLst/>
          </a:prstGeom>
          <a:noFill/>
          <a:ln/>
        </p:spPr>
        <p:txBody>
          <a:bodyPr wrap="square" lIns="0" tIns="0" rIns="0" bIns="0" rtlCol="0" anchor="ctr"/>
          <a:lstStyle/>
          <a:p>
            <a:pPr indent="0" marL="0">
              <a:buNone/>
            </a:pPr>
            <a:r>
              <a:rPr lang="en-US" sz="1150" dirty="0">
                <a:solidFill>
                  <a:srgbClr val="5A6F62"/>
                </a:solidFill>
                <a:latin typeface="Calibri" pitchFamily="34" charset="0"/>
                <a:ea typeface="Calibri" pitchFamily="34" charset="-122"/>
                <a:cs typeface="Calibri" pitchFamily="34" charset="-120"/>
              </a:rPr>
              <a:t>MAE · baseline clásico</a:t>
            </a:r>
            <a:endParaRPr lang="en-US" sz="1150" dirty="0"/>
          </a:p>
        </p:txBody>
      </p:sp>
      <p:sp>
        <p:nvSpPr>
          <p:cNvPr id="11" name="Text 7"/>
          <p:cNvSpPr/>
          <p:nvPr/>
        </p:nvSpPr>
        <p:spPr>
          <a:xfrm>
            <a:off x="6355080" y="1965960"/>
            <a:ext cx="2194560" cy="731520"/>
          </a:xfrm>
          <a:prstGeom prst="rect">
            <a:avLst/>
          </a:prstGeom>
          <a:noFill/>
          <a:ln/>
        </p:spPr>
        <p:txBody>
          <a:bodyPr wrap="square" lIns="0" tIns="0" rIns="0" bIns="0" rtlCol="0" anchor="ctr"/>
          <a:lstStyle/>
          <a:p>
            <a:pPr indent="0" marL="0">
              <a:buNone/>
            </a:pPr>
            <a:r>
              <a:rPr lang="en-US" sz="3400" b="1" dirty="0">
                <a:solidFill>
                  <a:srgbClr val="C68A3E"/>
                </a:solidFill>
                <a:latin typeface="Calibri" pitchFamily="34" charset="0"/>
                <a:ea typeface="Calibri" pitchFamily="34" charset="-122"/>
                <a:cs typeface="Calibri" pitchFamily="34" charset="-120"/>
              </a:rPr>
              <a:t>0.995</a:t>
            </a:r>
            <a:endParaRPr lang="en-US" sz="3400" dirty="0"/>
          </a:p>
        </p:txBody>
      </p:sp>
      <p:sp>
        <p:nvSpPr>
          <p:cNvPr id="12" name="Text 8"/>
          <p:cNvSpPr/>
          <p:nvPr/>
        </p:nvSpPr>
        <p:spPr>
          <a:xfrm>
            <a:off x="6355080" y="2724912"/>
            <a:ext cx="2194560" cy="457200"/>
          </a:xfrm>
          <a:prstGeom prst="rect">
            <a:avLst/>
          </a:prstGeom>
          <a:noFill/>
          <a:ln/>
        </p:spPr>
        <p:txBody>
          <a:bodyPr wrap="square" lIns="0" tIns="0" rIns="0" bIns="0" rtlCol="0" anchor="ctr"/>
          <a:lstStyle/>
          <a:p>
            <a:pPr indent="0" marL="0">
              <a:buNone/>
            </a:pPr>
            <a:r>
              <a:rPr lang="en-US" sz="1150" dirty="0">
                <a:solidFill>
                  <a:srgbClr val="5A6F62"/>
                </a:solidFill>
                <a:latin typeface="Calibri" pitchFamily="34" charset="0"/>
                <a:ea typeface="Calibri" pitchFamily="34" charset="-122"/>
                <a:cs typeface="Calibri" pitchFamily="34" charset="-120"/>
              </a:rPr>
              <a:t>mAP@.5 · YOLOv8n</a:t>
            </a:r>
            <a:endParaRPr lang="en-US" sz="1150" dirty="0"/>
          </a:p>
        </p:txBody>
      </p:sp>
      <p:sp>
        <p:nvSpPr>
          <p:cNvPr id="13" name="Text 9"/>
          <p:cNvSpPr/>
          <p:nvPr/>
        </p:nvSpPr>
        <p:spPr>
          <a:xfrm>
            <a:off x="4160520" y="3337560"/>
            <a:ext cx="4389120" cy="1554480"/>
          </a:xfrm>
          <a:prstGeom prst="rect">
            <a:avLst/>
          </a:prstGeom>
          <a:noFill/>
          <a:ln/>
        </p:spPr>
        <p:txBody>
          <a:bodyPr wrap="square" rtlCol="0" anchor="t"/>
          <a:lstStyle/>
          <a:p>
            <a:pPr indent="0" marL="0">
              <a:lnSpc>
                <a:spcPct val="110000"/>
              </a:lnSpc>
              <a:buNone/>
            </a:pPr>
            <a:r>
              <a:rPr lang="en-US" sz="1150" dirty="0">
                <a:solidFill>
                  <a:srgbClr val="5A6F62"/>
                </a:solidFill>
                <a:latin typeface="Calibri" pitchFamily="34" charset="0"/>
                <a:ea typeface="Calibri" pitchFamily="34" charset="-122"/>
                <a:cs typeface="Calibri" pitchFamily="34" charset="-120"/>
              </a:rPr>
              <a:t>El baseline clásico (watershed) da MAE 6.5: cuenta bien en baja densidad y subcuenta cuando los granos se pegan. El YOLOv8 entrenado sobre el dataset sintético cuenta casi perfecto en validación in-distribution (MAE≈0): valida método y pipeline. La validación con fotos reales (brecha sim-to-real) queda como próximo paso.</a:t>
            </a:r>
            <a:endParaRPr lang="en-US" sz="1150" dirty="0"/>
          </a:p>
        </p:txBody>
      </p:sp>
      <p:sp>
        <p:nvSpPr>
          <p:cNvPr id="14" name="Text 10"/>
          <p:cNvSpPr/>
          <p:nvPr/>
        </p:nvSpPr>
        <p:spPr>
          <a:xfrm>
            <a:off x="8686800" y="1874520"/>
            <a:ext cx="3108960" cy="548640"/>
          </a:xfrm>
          <a:prstGeom prst="rect">
            <a:avLst/>
          </a:prstGeom>
          <a:noFill/>
          <a:ln/>
        </p:spPr>
        <p:txBody>
          <a:bodyPr wrap="square" lIns="0" tIns="0" rIns="0" bIns="0" rtlCol="0" anchor="t"/>
          <a:lstStyle/>
          <a:p>
            <a:pPr indent="0" marL="0">
              <a:lnSpc>
                <a:spcPct val="100000"/>
              </a:lnSpc>
              <a:buNone/>
            </a:pPr>
            <a:r>
              <a:rPr lang="en-US" sz="1200" b="1" dirty="0">
                <a:solidFill>
                  <a:srgbClr val="16231C"/>
                </a:solidFill>
                <a:latin typeface="Calibri" pitchFamily="34" charset="0"/>
                <a:ea typeface="Calibri" pitchFamily="34" charset="-122"/>
                <a:cs typeface="Calibri" pitchFamily="34" charset="-120"/>
              </a:rPr>
              <a:t>Resultados en validación (100 imgs · 1685 instancias)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686800" y="2514600"/>
          <a:ext cx="3108960" cy="914400"/>
        </p:xfrm>
        <a:graphic>
          <a:graphicData uri="http://schemas.openxmlformats.org/drawingml/2006/table">
            <a:tbl>
              <a:tblPr/>
              <a:tblGrid>
                <a:gridCol w="1143000"/>
                <a:gridCol w="777240"/>
                <a:gridCol w="594360"/>
                <a:gridCol w="594360"/>
              </a:tblGrid>
              <a:tr h="420624">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Modelo</a:t>
                      </a:r>
                      <a:endParaRPr lang="en-US" sz="95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14201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mAP@.5</a:t>
                      </a:r>
                      <a:endParaRPr lang="en-US" sz="95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14201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MAE</a:t>
                      </a:r>
                      <a:endParaRPr lang="en-US" sz="95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14201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ms/img</a:t>
                      </a:r>
                      <a:endParaRPr lang="en-US" sz="95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14201A"/>
                    </a:solidFill>
                  </a:tcPr>
                </a:tc>
              </a:tr>
              <a:tr h="420624">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Watershed</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r>
              <a:tr h="420624">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YOLOv8n</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0.995</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r>
              <a:tr h="420624">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YOLOv8s</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0.995</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231C"/>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6350" cap="flat" cmpd="sng" algn="ctr">
                      <a:solidFill>
                        <a:srgbClr val="DCE4DD"/>
                      </a:solidFill>
                      <a:prstDash val="solid"/>
                      <a:round/>
                      <a:headEnd type="none" w="med" len="med"/>
                      <a:tailEnd type="none" w="med" len="med"/>
                    </a:lnL>
                    <a:lnR w="6350" cap="flat" cmpd="sng" algn="ctr">
                      <a:solidFill>
                        <a:srgbClr val="DCE4DD"/>
                      </a:solidFill>
                      <a:prstDash val="solid"/>
                      <a:round/>
                      <a:headEnd type="none" w="med" len="med"/>
                      <a:tailEnd type="none" w="med" len="med"/>
                    </a:lnR>
                    <a:lnT w="6350" cap="flat" cmpd="sng" algn="ctr">
                      <a:solidFill>
                        <a:srgbClr val="DCE4DD"/>
                      </a:solidFill>
                      <a:prstDash val="solid"/>
                      <a:round/>
                      <a:headEnd type="none" w="med" len="med"/>
                      <a:tailEnd type="none" w="med" len="med"/>
                    </a:lnT>
                    <a:lnB w="6350" cap="flat" cmpd="sng" algn="ctr">
                      <a:solidFill>
                        <a:srgbClr val="DCE4DD"/>
                      </a:solidFill>
                      <a:prstDash val="solid"/>
                      <a:round/>
                      <a:headEnd type="none" w="med" len="med"/>
                      <a:tailEnd type="none" w="med" len="med"/>
                    </a:lnB>
                    <a:solidFill>
                      <a:srgbClr val="FFFFFF"/>
                    </a:solidFill>
                  </a:tcPr>
                </a:tc>
              </a:tr>
            </a:tbl>
          </a:graphicData>
        </a:graphic>
      </p:graphicFrame>
      <p:sp>
        <p:nvSpPr>
          <p:cNvPr id="16" name="Text 11"/>
          <p:cNvSpPr/>
          <p:nvPr/>
        </p:nvSpPr>
        <p:spPr>
          <a:xfrm>
            <a:off x="8686800" y="4617720"/>
            <a:ext cx="3108960" cy="1188720"/>
          </a:xfrm>
          <a:prstGeom prst="rect">
            <a:avLst/>
          </a:prstGeom>
          <a:noFill/>
          <a:ln/>
        </p:spPr>
        <p:txBody>
          <a:bodyPr wrap="square" rtlCol="0" anchor="t"/>
          <a:lstStyle/>
          <a:p>
            <a:pPr indent="0" marL="0">
              <a:lnSpc>
                <a:spcPct val="108000"/>
              </a:lnSpc>
              <a:buNone/>
            </a:pPr>
            <a:r>
              <a:rPr lang="en-US" sz="1000" i="1" dirty="0">
                <a:solidFill>
                  <a:srgbClr val="5A6F62"/>
                </a:solidFill>
                <a:latin typeface="Calibri" pitchFamily="34" charset="0"/>
                <a:ea typeface="Calibri" pitchFamily="34" charset="-122"/>
                <a:cs typeface="Calibri" pitchFamily="34" charset="-120"/>
              </a:rPr>
              <a:t>mAP@.5:.95 — n 0.979 · s 0.982. Tamaño: n 3.0 M / 6 MB vs s 11.1 M / 22 MB → se despliega el nano. Saturado porque la validación es in-distribution.</a:t>
            </a:r>
            <a:endParaRPr lang="en-US" sz="1000" dirty="0"/>
          </a:p>
        </p:txBody>
      </p:sp>
      <p:sp>
        <p:nvSpPr>
          <p:cNvPr id="17" name="Text 1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8" name="Text 13"/>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HONESTIDAD</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Limitaciones y próximos pasos</a:t>
            </a:r>
            <a:endParaRPr lang="en-US" sz="3000" dirty="0"/>
          </a:p>
        </p:txBody>
      </p:sp>
      <p:sp>
        <p:nvSpPr>
          <p:cNvPr id="6" name="Shape 3"/>
          <p:cNvSpPr/>
          <p:nvPr/>
        </p:nvSpPr>
        <p:spPr>
          <a:xfrm>
            <a:off x="457200" y="1874520"/>
            <a:ext cx="5394960" cy="3840480"/>
          </a:xfrm>
          <a:prstGeom prst="roundRect">
            <a:avLst>
              <a:gd name="adj" fmla="val 285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7" name="Shape 4"/>
          <p:cNvSpPr/>
          <p:nvPr/>
        </p:nvSpPr>
        <p:spPr>
          <a:xfrm rot="480000">
            <a:off x="777240" y="2121408"/>
            <a:ext cx="310896" cy="310896"/>
          </a:xfrm>
          <a:prstGeom prst="roundRect">
            <a:avLst>
              <a:gd name="adj" fmla="val 43478"/>
            </a:avLst>
          </a:prstGeom>
          <a:solidFill>
            <a:srgbClr val="C68A3E"/>
          </a:solidFill>
          <a:ln/>
        </p:spPr>
      </p:sp>
      <p:sp>
        <p:nvSpPr>
          <p:cNvPr id="8" name="Text 5"/>
          <p:cNvSpPr/>
          <p:nvPr/>
        </p:nvSpPr>
        <p:spPr>
          <a:xfrm>
            <a:off x="1280160" y="2057400"/>
            <a:ext cx="4297680" cy="457200"/>
          </a:xfrm>
          <a:prstGeom prst="rect">
            <a:avLst/>
          </a:prstGeom>
          <a:noFill/>
          <a:ln/>
        </p:spPr>
        <p:txBody>
          <a:bodyPr wrap="square" lIns="0" tIns="0" rIns="0" bIns="0" rtlCol="0" anchor="ctr"/>
          <a:lstStyle/>
          <a:p>
            <a:pPr indent="0" marL="0">
              <a:buNone/>
            </a:pPr>
            <a:r>
              <a:rPr lang="en-US" sz="1800" b="1" dirty="0">
                <a:solidFill>
                  <a:srgbClr val="16231C"/>
                </a:solidFill>
                <a:latin typeface="Calibri" pitchFamily="34" charset="0"/>
                <a:ea typeface="Calibri" pitchFamily="34" charset="-122"/>
                <a:cs typeface="Calibri" pitchFamily="34" charset="-120"/>
              </a:rPr>
              <a:t>Limitaciones</a:t>
            </a:r>
            <a:endParaRPr lang="en-US" sz="1800" dirty="0"/>
          </a:p>
        </p:txBody>
      </p:sp>
      <p:sp>
        <p:nvSpPr>
          <p:cNvPr id="9" name="Text 6"/>
          <p:cNvSpPr/>
          <p:nvPr/>
        </p:nvSpPr>
        <p:spPr>
          <a:xfrm>
            <a:off x="914400" y="2743200"/>
            <a:ext cx="4572000" cy="2743200"/>
          </a:xfrm>
          <a:prstGeom prst="rect">
            <a:avLst/>
          </a:prstGeom>
          <a:noFill/>
          <a:ln/>
        </p:spPr>
        <p:txBody>
          <a:bodyPr wrap="square" rtlCol="0" anchor="t"/>
          <a:lstStyle/>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Brecha sim-to-real: falta validar contra fotos reales etiquetadas.</a:t>
            </a:r>
            <a:endParaRPr lang="en-US" sz="1350" dirty="0"/>
          </a:p>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Granos procedurales en la demo; el realismo final depende de buenos recortes.</a:t>
            </a:r>
            <a:endParaRPr lang="en-US" sz="1350" dirty="0"/>
          </a:p>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Oclusión severa y granos partidos siguen siendo difíciles.</a:t>
            </a:r>
            <a:endParaRPr lang="en-US" sz="1350" dirty="0"/>
          </a:p>
        </p:txBody>
      </p:sp>
      <p:sp>
        <p:nvSpPr>
          <p:cNvPr id="10" name="Shape 7"/>
          <p:cNvSpPr/>
          <p:nvPr/>
        </p:nvSpPr>
        <p:spPr>
          <a:xfrm>
            <a:off x="6217920" y="1874520"/>
            <a:ext cx="5394960" cy="3840480"/>
          </a:xfrm>
          <a:prstGeom prst="roundRect">
            <a:avLst>
              <a:gd name="adj" fmla="val 285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1" name="Shape 8"/>
          <p:cNvSpPr/>
          <p:nvPr/>
        </p:nvSpPr>
        <p:spPr>
          <a:xfrm rot="480000">
            <a:off x="6537960" y="2121408"/>
            <a:ext cx="310896" cy="310896"/>
          </a:xfrm>
          <a:prstGeom prst="roundRect">
            <a:avLst>
              <a:gd name="adj" fmla="val 43478"/>
            </a:avLst>
          </a:prstGeom>
          <a:solidFill>
            <a:srgbClr val="2F7D52"/>
          </a:solidFill>
          <a:ln/>
        </p:spPr>
      </p:sp>
      <p:sp>
        <p:nvSpPr>
          <p:cNvPr id="12" name="Text 9"/>
          <p:cNvSpPr/>
          <p:nvPr/>
        </p:nvSpPr>
        <p:spPr>
          <a:xfrm>
            <a:off x="7040880" y="2057400"/>
            <a:ext cx="4297680" cy="457200"/>
          </a:xfrm>
          <a:prstGeom prst="rect">
            <a:avLst/>
          </a:prstGeom>
          <a:noFill/>
          <a:ln/>
        </p:spPr>
        <p:txBody>
          <a:bodyPr wrap="square" lIns="0" tIns="0" rIns="0" bIns="0" rtlCol="0" anchor="ctr"/>
          <a:lstStyle/>
          <a:p>
            <a:pPr indent="0" marL="0">
              <a:buNone/>
            </a:pPr>
            <a:r>
              <a:rPr lang="en-US" sz="1800" b="1" dirty="0">
                <a:solidFill>
                  <a:srgbClr val="16231C"/>
                </a:solidFill>
                <a:latin typeface="Calibri" pitchFamily="34" charset="0"/>
                <a:ea typeface="Calibri" pitchFamily="34" charset="-122"/>
                <a:cs typeface="Calibri" pitchFamily="34" charset="-120"/>
              </a:rPr>
              <a:t>Próximos pasos</a:t>
            </a:r>
            <a:endParaRPr lang="en-US" sz="1800" dirty="0"/>
          </a:p>
        </p:txBody>
      </p:sp>
      <p:sp>
        <p:nvSpPr>
          <p:cNvPr id="13" name="Text 10"/>
          <p:cNvSpPr/>
          <p:nvPr/>
        </p:nvSpPr>
        <p:spPr>
          <a:xfrm>
            <a:off x="6675120" y="2743200"/>
            <a:ext cx="4572000" cy="2743200"/>
          </a:xfrm>
          <a:prstGeom prst="rect">
            <a:avLst/>
          </a:prstGeom>
          <a:noFill/>
          <a:ln/>
        </p:spPr>
        <p:txBody>
          <a:bodyPr wrap="square" rtlCol="0" anchor="t"/>
          <a:lstStyle/>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Conseguir/etiquetar un set real chico sólo para validación.</a:t>
            </a:r>
            <a:endParaRPr lang="en-US" sz="1350" dirty="0"/>
          </a:p>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Probar YOLOv8-seg y mapas de densidad para alta densidad.</a:t>
            </a:r>
            <a:endParaRPr lang="en-US" sz="1350" dirty="0"/>
          </a:p>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Mezclar sintético + real (fine-tuning) y medir la brecha.</a:t>
            </a:r>
            <a:endParaRPr lang="en-US" sz="1350" dirty="0"/>
          </a:p>
          <a:p>
            <a:pPr marL="342900" indent="-342900">
              <a:lnSpc>
                <a:spcPct val="110000"/>
              </a:lnSpc>
              <a:spcAft>
                <a:spcPts val="900"/>
              </a:spcAft>
              <a:buSzPct val="100000"/>
              <a:buChar char="•"/>
            </a:pPr>
            <a:r>
              <a:rPr lang="en-US" sz="1350" dirty="0">
                <a:solidFill>
                  <a:srgbClr val="5A6F62"/>
                </a:solidFill>
                <a:latin typeface="Calibri" pitchFamily="34" charset="0"/>
                <a:ea typeface="Calibri" pitchFamily="34" charset="-122"/>
                <a:cs typeface="Calibri" pitchFamily="34" charset="-120"/>
              </a:rPr>
              <a:t>Monitoreo en producción: distribución de confianza y tasa de success=false.</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5" name="Text 12"/>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01A"/>
        </a:solidFill>
      </p:bgPr>
    </p:bg>
    <p:spTree>
      <p:nvGrpSpPr>
        <p:cNvPr id="1" name=""/>
        <p:cNvGrpSpPr/>
        <p:nvPr/>
      </p:nvGrpSpPr>
      <p:grpSpPr>
        <a:xfrm>
          <a:off x="0" y="0"/>
          <a:ext cx="0" cy="0"/>
          <a:chOff x="0" y="0"/>
          <a:chExt cx="0" cy="0"/>
        </a:xfrm>
      </p:grpSpPr>
      <p:pic>
        <p:nvPicPr>
          <p:cNvPr id="2" name="Image 0" descr="/home/claude/poroto_cv/docs/deck_assets/bg_dense_clean.jpg">    </p:cNvPr>
          <p:cNvPicPr>
            <a:picLocks noChangeAspect="1"/>
          </p:cNvPicPr>
          <p:nvPr/>
        </p:nvPicPr>
        <p:blipFill>
          <a:blip r:embed="rId1">
            <a:alphaModFix amt="70000"/>
          </a:blip>
          <a:srcRect l="0" r="0" t="0" b="0"/>
          <a:stretch/>
        </p:blipFill>
        <p:spPr>
          <a:xfrm>
            <a:off x="7955280" y="0"/>
            <a:ext cx="6858000" cy="6858000"/>
          </a:xfrm>
          <a:prstGeom prst="rect">
            <a:avLst/>
          </a:prstGeom>
        </p:spPr>
      </p:pic>
      <p:sp>
        <p:nvSpPr>
          <p:cNvPr id="3" name="Shape 0"/>
          <p:cNvSpPr/>
          <p:nvPr/>
        </p:nvSpPr>
        <p:spPr>
          <a:xfrm>
            <a:off x="7955280" y="0"/>
            <a:ext cx="4206240" cy="6858000"/>
          </a:xfrm>
          <a:prstGeom prst="rect">
            <a:avLst/>
          </a:prstGeom>
          <a:solidFill>
            <a:srgbClr val="14201A">
              <a:alpha val="55000"/>
            </a:srgbClr>
          </a:solidFill>
          <a:ln/>
        </p:spPr>
      </p:sp>
      <p:sp>
        <p:nvSpPr>
          <p:cNvPr id="4" name="Shape 1"/>
          <p:cNvSpPr/>
          <p:nvPr/>
        </p:nvSpPr>
        <p:spPr>
          <a:xfrm rot="480000">
            <a:off x="777240" y="1554480"/>
            <a:ext cx="457200" cy="457200"/>
          </a:xfrm>
          <a:prstGeom prst="roundRect">
            <a:avLst>
              <a:gd name="adj" fmla="val 43478"/>
            </a:avLst>
          </a:prstGeom>
          <a:solidFill>
            <a:srgbClr val="D8A657"/>
          </a:solidFill>
          <a:ln/>
        </p:spPr>
      </p:sp>
      <p:sp>
        <p:nvSpPr>
          <p:cNvPr id="6" name="Text 2"/>
          <p:cNvSpPr/>
          <p:nvPr/>
        </p:nvSpPr>
        <p:spPr>
          <a:xfrm>
            <a:off x="1371600" y="1572768"/>
            <a:ext cx="4572000" cy="320040"/>
          </a:xfrm>
          <a:prstGeom prst="rect">
            <a:avLst/>
          </a:prstGeom>
          <a:noFill/>
          <a:ln/>
        </p:spPr>
        <p:txBody>
          <a:bodyPr wrap="square" lIns="0" tIns="0" rIns="0" bIns="0" rtlCol="0" anchor="ctr"/>
          <a:lstStyle/>
          <a:p>
            <a:pPr indent="0" marL="0">
              <a:buNone/>
            </a:pPr>
            <a:r>
              <a:rPr lang="en-US" sz="1300" b="1" spc="300" kern="0" dirty="0">
                <a:solidFill>
                  <a:srgbClr val="D8A657"/>
                </a:solidFill>
                <a:latin typeface="Calibri" pitchFamily="34" charset="0"/>
                <a:ea typeface="Calibri" pitchFamily="34" charset="-122"/>
                <a:cs typeface="Calibri" pitchFamily="34" charset="-120"/>
              </a:rPr>
              <a:t>CIERRE</a:t>
            </a:r>
            <a:endParaRPr lang="en-US" sz="1300" dirty="0"/>
          </a:p>
        </p:txBody>
      </p:sp>
      <p:sp>
        <p:nvSpPr>
          <p:cNvPr id="7" name="Text 3"/>
          <p:cNvSpPr/>
          <p:nvPr/>
        </p:nvSpPr>
        <p:spPr>
          <a:xfrm>
            <a:off x="777240" y="2057400"/>
            <a:ext cx="7315200" cy="146304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Calibri" pitchFamily="34" charset="0"/>
                <a:ea typeface="Calibri" pitchFamily="34" charset="-122"/>
                <a:cs typeface="Calibri" pitchFamily="34" charset="-120"/>
              </a:rPr>
              <a:t>Datos sintéticos como</a:t>
            </a:r>
            <a:endParaRPr lang="en-US" sz="3800" dirty="0"/>
          </a:p>
          <a:p>
            <a:pPr indent="0" marL="0">
              <a:lnSpc>
                <a:spcPct val="100000"/>
              </a:lnSpc>
              <a:buNone/>
            </a:pPr>
            <a:r>
              <a:rPr lang="en-US" sz="3800" b="1" dirty="0">
                <a:solidFill>
                  <a:srgbClr val="FFFFFF"/>
                </a:solidFill>
                <a:latin typeface="Calibri" pitchFamily="34" charset="0"/>
                <a:ea typeface="Calibri" pitchFamily="34" charset="-122"/>
                <a:cs typeface="Calibri" pitchFamily="34" charset="-120"/>
              </a:rPr>
              <a:t>llave del problema</a:t>
            </a:r>
            <a:endParaRPr lang="en-US" sz="3800" dirty="0"/>
          </a:p>
        </p:txBody>
      </p:sp>
      <p:sp>
        <p:nvSpPr>
          <p:cNvPr id="8" name="Text 4"/>
          <p:cNvSpPr/>
          <p:nvPr/>
        </p:nvSpPr>
        <p:spPr>
          <a:xfrm>
            <a:off x="822960" y="3749040"/>
            <a:ext cx="6675120" cy="1371600"/>
          </a:xfrm>
          <a:prstGeom prst="rect">
            <a:avLst/>
          </a:prstGeom>
          <a:noFill/>
          <a:ln/>
        </p:spPr>
        <p:txBody>
          <a:bodyPr wrap="square" rtlCol="0" anchor="t"/>
          <a:lstStyle/>
          <a:p>
            <a:pPr marL="342900" indent="-342900">
              <a:spcAft>
                <a:spcPts val="800"/>
              </a:spcAft>
              <a:buSzPct val="100000"/>
              <a:buChar char="•"/>
            </a:pPr>
            <a:r>
              <a:rPr lang="en-US" sz="1450" dirty="0">
                <a:solidFill>
                  <a:srgbClr val="D8E5DC"/>
                </a:solidFill>
                <a:latin typeface="Calibri" pitchFamily="34" charset="0"/>
                <a:ea typeface="Calibri" pitchFamily="34" charset="-122"/>
                <a:cs typeface="Calibri" pitchFamily="34" charset="-120"/>
              </a:rPr>
              <a:t>Pipeline sintético de 4 fases con ground truth automático.</a:t>
            </a:r>
            <a:endParaRPr lang="en-US" sz="1450" dirty="0"/>
          </a:p>
          <a:p>
            <a:pPr marL="342900" indent="-342900">
              <a:spcAft>
                <a:spcPts val="800"/>
              </a:spcAft>
              <a:buSzPct val="100000"/>
              <a:buChar char="•"/>
            </a:pPr>
            <a:r>
              <a:rPr lang="en-US" sz="1450" dirty="0">
                <a:solidFill>
                  <a:srgbClr val="D8E5DC"/>
                </a:solidFill>
                <a:latin typeface="Calibri" pitchFamily="34" charset="0"/>
                <a:ea typeface="Calibri" pitchFamily="34" charset="-122"/>
                <a:cs typeface="Calibri" pitchFamily="34" charset="-120"/>
              </a:rPr>
              <a:t>Detección + métrica de conteo orientada al negocio.</a:t>
            </a:r>
            <a:endParaRPr lang="en-US" sz="1450" dirty="0"/>
          </a:p>
          <a:p>
            <a:pPr marL="342900" indent="-342900">
              <a:spcAft>
                <a:spcPts val="800"/>
              </a:spcAft>
              <a:buSzPct val="100000"/>
              <a:buChar char="•"/>
            </a:pPr>
            <a:r>
              <a:rPr lang="en-US" sz="1450" dirty="0">
                <a:solidFill>
                  <a:srgbClr val="D8E5DC"/>
                </a:solidFill>
                <a:latin typeface="Calibri" pitchFamily="34" charset="0"/>
                <a:ea typeface="Calibri" pitchFamily="34" charset="-122"/>
                <a:cs typeface="Calibri" pitchFamily="34" charset="-120"/>
              </a:rPr>
              <a:t>Servicio FastAPI + demo de inspección, reproducible.</a:t>
            </a:r>
            <a:endParaRPr lang="en-US" sz="1450" dirty="0"/>
          </a:p>
        </p:txBody>
      </p:sp>
      <p:sp>
        <p:nvSpPr>
          <p:cNvPr id="9" name="Text 5"/>
          <p:cNvSpPr/>
          <p:nvPr/>
        </p:nvSpPr>
        <p:spPr>
          <a:xfrm>
            <a:off x="822960" y="5349240"/>
            <a:ext cx="5486400" cy="548640"/>
          </a:xfrm>
          <a:prstGeom prst="rect">
            <a:avLst/>
          </a:prstGeom>
          <a:noFill/>
          <a:ln/>
        </p:spPr>
        <p:txBody>
          <a:bodyPr wrap="square" lIns="0" tIns="0" rIns="0" bIns="0" rtlCol="0" anchor="ctr"/>
          <a:lstStyle/>
          <a:p>
            <a:pPr indent="0" marL="0">
              <a:buNone/>
            </a:pPr>
            <a:r>
              <a:rPr lang="en-US" sz="2200" b="1" dirty="0">
                <a:solidFill>
                  <a:srgbClr val="D8A657"/>
                </a:solidFill>
                <a:latin typeface="Calibri" pitchFamily="34" charset="0"/>
                <a:ea typeface="Calibri" pitchFamily="34" charset="-122"/>
                <a:cs typeface="Calibri" pitchFamily="34" charset="-120"/>
              </a:rPr>
              <a:t>¿Preguntas?</a:t>
            </a:r>
            <a:endParaRPr lang="en-US" sz="2200" dirty="0"/>
          </a:p>
        </p:txBody>
      </p:sp>
      <p:sp>
        <p:nvSpPr>
          <p:cNvPr id="10" name="Text 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11" name="Text 7"/>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01A"/>
        </a:solidFill>
      </p:bgPr>
    </p:bg>
    <p:spTree>
      <p:nvGrpSpPr>
        <p:cNvPr id="1" name=""/>
        <p:cNvGrpSpPr/>
        <p:nvPr/>
      </p:nvGrpSpPr>
      <p:grpSpPr>
        <a:xfrm>
          <a:off x="0" y="0"/>
          <a:ext cx="0" cy="0"/>
          <a:chOff x="0" y="0"/>
          <a:chExt cx="0" cy="0"/>
        </a:xfrm>
      </p:grpSpPr>
      <p:pic>
        <p:nvPicPr>
          <p:cNvPr id="2" name="Image 0" descr="/home/claude/poroto_cv/docs/deck_assets/bg_sparse_clean.jpg">    </p:cNvPr>
          <p:cNvPicPr>
            <a:picLocks noChangeAspect="1"/>
          </p:cNvPicPr>
          <p:nvPr/>
        </p:nvPicPr>
        <p:blipFill>
          <a:blip r:embed="rId1">
            <a:alphaModFix amt="76000"/>
          </a:blip>
          <a:srcRect l="0" r="0" t="0" b="0"/>
          <a:stretch/>
        </p:blipFill>
        <p:spPr>
          <a:xfrm>
            <a:off x="7955280" y="0"/>
            <a:ext cx="6858000" cy="6858000"/>
          </a:xfrm>
          <a:prstGeom prst="rect">
            <a:avLst/>
          </a:prstGeom>
        </p:spPr>
      </p:pic>
      <p:sp>
        <p:nvSpPr>
          <p:cNvPr id="3" name="Shape 0"/>
          <p:cNvSpPr/>
          <p:nvPr/>
        </p:nvSpPr>
        <p:spPr>
          <a:xfrm>
            <a:off x="7955280" y="0"/>
            <a:ext cx="4206240" cy="6858000"/>
          </a:xfrm>
          <a:prstGeom prst="rect">
            <a:avLst/>
          </a:prstGeom>
          <a:solidFill>
            <a:srgbClr val="14201A">
              <a:alpha val="60000"/>
            </a:srgbClr>
          </a:solidFill>
          <a:ln/>
        </p:spPr>
      </p:sp>
      <p:sp>
        <p:nvSpPr>
          <p:cNvPr id="4" name="Shape 1"/>
          <p:cNvSpPr/>
          <p:nvPr/>
        </p:nvSpPr>
        <p:spPr>
          <a:xfrm rot="480000">
            <a:off x="777240" y="1554480"/>
            <a:ext cx="457200" cy="457200"/>
          </a:xfrm>
          <a:prstGeom prst="roundRect">
            <a:avLst>
              <a:gd name="adj" fmla="val 43478"/>
            </a:avLst>
          </a:prstGeom>
          <a:solidFill>
            <a:srgbClr val="D8A657"/>
          </a:solidFill>
          <a:ln/>
        </p:spPr>
      </p:sp>
      <p:sp>
        <p:nvSpPr>
          <p:cNvPr id="5" name="Text 2"/>
          <p:cNvSpPr/>
          <p:nvPr/>
        </p:nvSpPr>
        <p:spPr>
          <a:xfrm>
            <a:off x="1371600" y="1572768"/>
            <a:ext cx="4572000" cy="320040"/>
          </a:xfrm>
          <a:prstGeom prst="rect">
            <a:avLst/>
          </a:prstGeom>
          <a:noFill/>
          <a:ln/>
        </p:spPr>
        <p:txBody>
          <a:bodyPr wrap="square" lIns="0" tIns="0" rIns="0" bIns="0" rtlCol="0" anchor="ctr"/>
          <a:lstStyle/>
          <a:p>
            <a:pPr indent="0" marL="0">
              <a:buNone/>
            </a:pPr>
            <a:r>
              <a:rPr lang="en-US" sz="1300" b="1" spc="300" kern="0" dirty="0">
                <a:solidFill>
                  <a:srgbClr val="D8A657"/>
                </a:solidFill>
                <a:latin typeface="Calibri" pitchFamily="34" charset="0"/>
                <a:ea typeface="Calibri" pitchFamily="34" charset="-122"/>
                <a:cs typeface="Calibri" pitchFamily="34" charset="-120"/>
              </a:rPr>
              <a:t>APÉNDICE</a:t>
            </a:r>
            <a:endParaRPr lang="en-US" sz="1300" dirty="0"/>
          </a:p>
        </p:txBody>
      </p:sp>
      <p:sp>
        <p:nvSpPr>
          <p:cNvPr id="6" name="Text 3"/>
          <p:cNvSpPr/>
          <p:nvPr/>
        </p:nvSpPr>
        <p:spPr>
          <a:xfrm>
            <a:off x="777240" y="2057400"/>
            <a:ext cx="7315200" cy="146304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Calibri" pitchFamily="34" charset="0"/>
                <a:ea typeface="Calibri" pitchFamily="34" charset="-122"/>
                <a:cs typeface="Calibri" pitchFamily="34" charset="-120"/>
              </a:rPr>
              <a:t>Fundamentos teóricos</a:t>
            </a:r>
            <a:endParaRPr lang="en-US" sz="3800" dirty="0"/>
          </a:p>
          <a:p>
            <a:pPr indent="0" marL="0">
              <a:lnSpc>
                <a:spcPct val="100000"/>
              </a:lnSpc>
              <a:buNone/>
            </a:pPr>
            <a:r>
              <a:rPr lang="en-US" sz="3800" b="1" dirty="0">
                <a:solidFill>
                  <a:srgbClr val="FFFFFF"/>
                </a:solidFill>
                <a:latin typeface="Calibri" pitchFamily="34" charset="0"/>
                <a:ea typeface="Calibri" pitchFamily="34" charset="-122"/>
                <a:cs typeface="Calibri" pitchFamily="34" charset="-120"/>
              </a:rPr>
              <a:t>y pipelines</a:t>
            </a:r>
            <a:endParaRPr lang="en-US" sz="3800" dirty="0"/>
          </a:p>
        </p:txBody>
      </p:sp>
      <p:sp>
        <p:nvSpPr>
          <p:cNvPr id="7" name="Text 4"/>
          <p:cNvSpPr/>
          <p:nvPr/>
        </p:nvSpPr>
        <p:spPr>
          <a:xfrm>
            <a:off x="822960" y="3657600"/>
            <a:ext cx="6583680" cy="548640"/>
          </a:xfrm>
          <a:prstGeom prst="rect">
            <a:avLst/>
          </a:prstGeom>
          <a:noFill/>
          <a:ln/>
        </p:spPr>
        <p:txBody>
          <a:bodyPr wrap="square" lIns="0" tIns="0" rIns="0" bIns="0" rtlCol="0" anchor="ctr"/>
          <a:lstStyle/>
          <a:p>
            <a:pPr indent="0" marL="0">
              <a:buNone/>
            </a:pPr>
            <a:r>
              <a:rPr lang="en-US" sz="1500" dirty="0">
                <a:solidFill>
                  <a:srgbClr val="CFE0D4"/>
                </a:solidFill>
                <a:latin typeface="Calibri" pitchFamily="34" charset="0"/>
                <a:ea typeface="Calibri" pitchFamily="34" charset="-122"/>
                <a:cs typeface="Calibri" pitchFamily="34" charset="-120"/>
              </a:rPr>
              <a:t>Material de respaldo para preguntas: la teoría de visión detrás de cada etapa.</a:t>
            </a:r>
            <a:endParaRPr lang="en-US" sz="1500" dirty="0"/>
          </a:p>
        </p:txBody>
      </p:sp>
      <p:sp>
        <p:nvSpPr>
          <p:cNvPr id="8"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9" name="Text 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PIPELINE · DATOS SINTÉTICOS</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De la foto real al dataset etiquetado</a:t>
            </a:r>
            <a:endParaRPr lang="en-US" sz="3000" dirty="0"/>
          </a:p>
        </p:txBody>
      </p:sp>
      <p:sp>
        <p:nvSpPr>
          <p:cNvPr id="5" name="Text 3"/>
          <p:cNvSpPr/>
          <p:nvPr/>
        </p:nvSpPr>
        <p:spPr>
          <a:xfrm>
            <a:off x="457200" y="1783080"/>
            <a:ext cx="7315200" cy="320040"/>
          </a:xfrm>
          <a:prstGeom prst="rect">
            <a:avLst/>
          </a:prstGeom>
          <a:noFill/>
          <a:ln/>
        </p:spPr>
        <p:txBody>
          <a:bodyPr wrap="square" lIns="0" tIns="0" rIns="0" bIns="0" rtlCol="0" anchor="ctr"/>
          <a:lstStyle/>
          <a:p>
            <a:pPr indent="0" marL="0">
              <a:buNone/>
            </a:pPr>
            <a:r>
              <a:rPr lang="en-US" sz="1400" b="1" dirty="0">
                <a:solidFill>
                  <a:srgbClr val="2F7D52"/>
                </a:solidFill>
                <a:latin typeface="Calibri" pitchFamily="34" charset="0"/>
                <a:ea typeface="Calibri" pitchFamily="34" charset="-122"/>
                <a:cs typeface="Calibri" pitchFamily="34" charset="-120"/>
              </a:rPr>
              <a:t>ETAPA 1 · extracción del grano</a:t>
            </a:r>
            <a:endParaRPr lang="en-US" sz="1400" dirty="0"/>
          </a:p>
        </p:txBody>
      </p:sp>
      <p:sp>
        <p:nvSpPr>
          <p:cNvPr id="6" name="Shape 4"/>
          <p:cNvSpPr/>
          <p:nvPr/>
        </p:nvSpPr>
        <p:spPr>
          <a:xfrm>
            <a:off x="457200" y="2240280"/>
            <a:ext cx="2331720" cy="777240"/>
          </a:xfrm>
          <a:prstGeom prst="roundRect">
            <a:avLst>
              <a:gd name="adj" fmla="val 8235"/>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7" name="Text 5"/>
          <p:cNvSpPr/>
          <p:nvPr/>
        </p:nvSpPr>
        <p:spPr>
          <a:xfrm>
            <a:off x="457200" y="2240280"/>
            <a:ext cx="2331720" cy="77724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Imagen real</a:t>
            </a:r>
            <a:endParaRPr lang="en-US" sz="1100" dirty="0"/>
          </a:p>
          <a:p>
            <a:pPr algn="ctr" indent="0" marL="0">
              <a:buNone/>
            </a:pPr>
            <a:r>
              <a:rPr lang="en-US" sz="1100" b="1" dirty="0">
                <a:solidFill>
                  <a:srgbClr val="16231C"/>
                </a:solidFill>
                <a:latin typeface="Calibri" pitchFamily="34" charset="0"/>
                <a:ea typeface="Calibri" pitchFamily="34" charset="-122"/>
                <a:cs typeface="Calibri" pitchFamily="34" charset="-120"/>
              </a:rPr>
              <a:t>(porotos)</a:t>
            </a:r>
            <a:endParaRPr lang="en-US" sz="1100" dirty="0"/>
          </a:p>
        </p:txBody>
      </p:sp>
      <p:sp>
        <p:nvSpPr>
          <p:cNvPr id="8" name="Shape 6"/>
          <p:cNvSpPr/>
          <p:nvPr/>
        </p:nvSpPr>
        <p:spPr>
          <a:xfrm>
            <a:off x="3429000" y="2240280"/>
            <a:ext cx="2468880" cy="777240"/>
          </a:xfrm>
          <a:prstGeom prst="roundRect">
            <a:avLst>
              <a:gd name="adj" fmla="val 8235"/>
            </a:avLst>
          </a:prstGeom>
          <a:solidFill>
            <a:srgbClr val="14201A"/>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9" name="Text 7"/>
          <p:cNvSpPr/>
          <p:nvPr/>
        </p:nvSpPr>
        <p:spPr>
          <a:xfrm>
            <a:off x="3429000" y="2240280"/>
            <a:ext cx="2468880" cy="77724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Otsu + canal alfa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recorte bbox</a:t>
            </a:r>
            <a:endParaRPr lang="en-US" sz="1100" dirty="0"/>
          </a:p>
        </p:txBody>
      </p:sp>
      <p:sp>
        <p:nvSpPr>
          <p:cNvPr id="10" name="Shape 8"/>
          <p:cNvSpPr/>
          <p:nvPr/>
        </p:nvSpPr>
        <p:spPr>
          <a:xfrm>
            <a:off x="6537960" y="2240280"/>
            <a:ext cx="2468880" cy="777240"/>
          </a:xfrm>
          <a:prstGeom prst="roundRect">
            <a:avLst>
              <a:gd name="adj" fmla="val 8235"/>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1" name="Text 9"/>
          <p:cNvSpPr/>
          <p:nvPr/>
        </p:nvSpPr>
        <p:spPr>
          <a:xfrm>
            <a:off x="6537960" y="2240280"/>
            <a:ext cx="2468880" cy="77724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Banco de granos</a:t>
            </a:r>
            <a:endParaRPr lang="en-US" sz="1100" dirty="0"/>
          </a:p>
          <a:p>
            <a:pPr algn="ctr" indent="0" marL="0">
              <a:buNone/>
            </a:pPr>
            <a:r>
              <a:rPr lang="en-US" sz="1100" b="1" dirty="0">
                <a:solidFill>
                  <a:srgbClr val="16231C"/>
                </a:solidFill>
                <a:latin typeface="Calibri" pitchFamily="34" charset="0"/>
                <a:ea typeface="Calibri" pitchFamily="34" charset="-122"/>
                <a:cs typeface="Calibri" pitchFamily="34" charset="-120"/>
              </a:rPr>
              <a:t>RGBA</a:t>
            </a:r>
            <a:endParaRPr lang="en-US" sz="1100" dirty="0"/>
          </a:p>
        </p:txBody>
      </p:sp>
      <p:sp>
        <p:nvSpPr>
          <p:cNvPr id="12" name="Shape 10"/>
          <p:cNvSpPr/>
          <p:nvPr/>
        </p:nvSpPr>
        <p:spPr>
          <a:xfrm>
            <a:off x="2834640" y="2628900"/>
            <a:ext cx="548640" cy="0"/>
          </a:xfrm>
          <a:prstGeom prst="line">
            <a:avLst/>
          </a:prstGeom>
          <a:noFill/>
          <a:ln w="22225">
            <a:solidFill>
              <a:srgbClr val="C68A3E"/>
            </a:solidFill>
            <a:prstDash val="solid"/>
            <a:tailEnd type="triangle"/>
          </a:ln>
        </p:spPr>
      </p:sp>
      <p:sp>
        <p:nvSpPr>
          <p:cNvPr id="13" name="Shape 11"/>
          <p:cNvSpPr/>
          <p:nvPr/>
        </p:nvSpPr>
        <p:spPr>
          <a:xfrm>
            <a:off x="5943600" y="2628900"/>
            <a:ext cx="548640" cy="0"/>
          </a:xfrm>
          <a:prstGeom prst="line">
            <a:avLst/>
          </a:prstGeom>
          <a:noFill/>
          <a:ln w="22225">
            <a:solidFill>
              <a:srgbClr val="C68A3E"/>
            </a:solidFill>
            <a:prstDash val="solid"/>
            <a:tailEnd type="triangle"/>
          </a:ln>
        </p:spPr>
      </p:sp>
      <p:sp>
        <p:nvSpPr>
          <p:cNvPr id="14" name="Text 12"/>
          <p:cNvSpPr/>
          <p:nvPr/>
        </p:nvSpPr>
        <p:spPr>
          <a:xfrm>
            <a:off x="457200" y="3429000"/>
            <a:ext cx="8229600" cy="320040"/>
          </a:xfrm>
          <a:prstGeom prst="rect">
            <a:avLst/>
          </a:prstGeom>
          <a:noFill/>
          <a:ln/>
        </p:spPr>
        <p:txBody>
          <a:bodyPr wrap="square" lIns="0" tIns="0" rIns="0" bIns="0" rtlCol="0" anchor="ctr"/>
          <a:lstStyle/>
          <a:p>
            <a:pPr indent="0" marL="0">
              <a:buNone/>
            </a:pPr>
            <a:r>
              <a:rPr lang="en-US" sz="1400" b="1" dirty="0">
                <a:solidFill>
                  <a:srgbClr val="2F7D52"/>
                </a:solidFill>
                <a:latin typeface="Calibri" pitchFamily="34" charset="0"/>
                <a:ea typeface="Calibri" pitchFamily="34" charset="-122"/>
                <a:cs typeface="Calibri" pitchFamily="34" charset="-120"/>
              </a:rPr>
              <a:t>ETAPA 2 · composición de la escena (×N granos)</a:t>
            </a:r>
            <a:endParaRPr lang="en-US" sz="1400" dirty="0"/>
          </a:p>
        </p:txBody>
      </p:sp>
      <p:sp>
        <p:nvSpPr>
          <p:cNvPr id="15" name="Shape 13"/>
          <p:cNvSpPr/>
          <p:nvPr/>
        </p:nvSpPr>
        <p:spPr>
          <a:xfrm>
            <a:off x="457200" y="3886200"/>
            <a:ext cx="1993392" cy="777240"/>
          </a:xfrm>
          <a:prstGeom prst="roundRect">
            <a:avLst>
              <a:gd name="adj" fmla="val 8235"/>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6" name="Text 14"/>
          <p:cNvSpPr/>
          <p:nvPr/>
        </p:nvSpPr>
        <p:spPr>
          <a:xfrm>
            <a:off x="457200" y="3886200"/>
            <a:ext cx="1993392" cy="777240"/>
          </a:xfrm>
          <a:prstGeom prst="rect">
            <a:avLst/>
          </a:prstGeom>
          <a:noFill/>
          <a:ln/>
        </p:spPr>
        <p:txBody>
          <a:bodyPr wrap="square" lIns="25400" tIns="25400" rIns="25400" bIns="25400" rtlCol="0" anchor="ctr"/>
          <a:lstStyle/>
          <a:p>
            <a:pPr algn="ctr" indent="0" marL="0">
              <a:buNone/>
            </a:pPr>
            <a:r>
              <a:rPr lang="en-US" sz="1000" b="1" dirty="0">
                <a:solidFill>
                  <a:srgbClr val="16231C"/>
                </a:solidFill>
                <a:latin typeface="Calibri" pitchFamily="34" charset="0"/>
                <a:ea typeface="Calibri" pitchFamily="34" charset="-122"/>
                <a:cs typeface="Calibri" pitchFamily="34" charset="-120"/>
              </a:rPr>
              <a:t>Elegir grano</a:t>
            </a:r>
            <a:endParaRPr lang="en-US" sz="1000" dirty="0"/>
          </a:p>
          <a:p>
            <a:pPr algn="ctr" indent="0" marL="0">
              <a:buNone/>
            </a:pPr>
            <a:r>
              <a:rPr lang="en-US" sz="1000" b="1" dirty="0">
                <a:solidFill>
                  <a:srgbClr val="16231C"/>
                </a:solidFill>
                <a:latin typeface="Calibri" pitchFamily="34" charset="0"/>
                <a:ea typeface="Calibri" pitchFamily="34" charset="-122"/>
                <a:cs typeface="Calibri" pitchFamily="34" charset="-120"/>
              </a:rPr>
              <a:t>del banco</a:t>
            </a:r>
            <a:endParaRPr lang="en-US" sz="1000" dirty="0"/>
          </a:p>
        </p:txBody>
      </p:sp>
      <p:sp>
        <p:nvSpPr>
          <p:cNvPr id="17" name="Shape 15"/>
          <p:cNvSpPr/>
          <p:nvPr/>
        </p:nvSpPr>
        <p:spPr>
          <a:xfrm>
            <a:off x="2450592" y="4274820"/>
            <a:ext cx="201168" cy="0"/>
          </a:xfrm>
          <a:prstGeom prst="line">
            <a:avLst/>
          </a:prstGeom>
          <a:noFill/>
          <a:ln w="22225">
            <a:solidFill>
              <a:srgbClr val="C68A3E"/>
            </a:solidFill>
            <a:prstDash val="solid"/>
            <a:tailEnd type="triangle"/>
          </a:ln>
        </p:spPr>
      </p:sp>
      <p:sp>
        <p:nvSpPr>
          <p:cNvPr id="18" name="Shape 16"/>
          <p:cNvSpPr/>
          <p:nvPr/>
        </p:nvSpPr>
        <p:spPr>
          <a:xfrm>
            <a:off x="2651760" y="3886200"/>
            <a:ext cx="1993392" cy="777240"/>
          </a:xfrm>
          <a:prstGeom prst="roundRect">
            <a:avLst>
              <a:gd name="adj" fmla="val 8235"/>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9" name="Text 17"/>
          <p:cNvSpPr/>
          <p:nvPr/>
        </p:nvSpPr>
        <p:spPr>
          <a:xfrm>
            <a:off x="2651760" y="3886200"/>
            <a:ext cx="1993392" cy="777240"/>
          </a:xfrm>
          <a:prstGeom prst="rect">
            <a:avLst/>
          </a:prstGeom>
          <a:noFill/>
          <a:ln/>
        </p:spPr>
        <p:txBody>
          <a:bodyPr wrap="square" lIns="25400" tIns="25400" rIns="25400" bIns="25400" rtlCol="0" anchor="ctr"/>
          <a:lstStyle/>
          <a:p>
            <a:pPr algn="ctr" indent="0" marL="0">
              <a:buNone/>
            </a:pPr>
            <a:r>
              <a:rPr lang="en-US" sz="1000" b="1" dirty="0">
                <a:solidFill>
                  <a:srgbClr val="16231C"/>
                </a:solidFill>
                <a:latin typeface="Calibri" pitchFamily="34" charset="0"/>
                <a:ea typeface="Calibri" pitchFamily="34" charset="-122"/>
                <a:cs typeface="Calibri" pitchFamily="34" charset="-120"/>
              </a:rPr>
              <a:t>Aumentar</a:t>
            </a:r>
            <a:endParaRPr lang="en-US" sz="1000" dirty="0"/>
          </a:p>
          <a:p>
            <a:pPr algn="ctr" indent="0" marL="0">
              <a:buNone/>
            </a:pPr>
            <a:r>
              <a:rPr lang="en-US" sz="1000" b="1" dirty="0">
                <a:solidFill>
                  <a:srgbClr val="16231C"/>
                </a:solidFill>
                <a:latin typeface="Calibri" pitchFamily="34" charset="0"/>
                <a:ea typeface="Calibri" pitchFamily="34" charset="-122"/>
                <a:cs typeface="Calibri" pitchFamily="34" charset="-120"/>
              </a:rPr>
              <a:t>(afín + HSV)</a:t>
            </a:r>
            <a:endParaRPr lang="en-US" sz="1000" dirty="0"/>
          </a:p>
        </p:txBody>
      </p:sp>
      <p:sp>
        <p:nvSpPr>
          <p:cNvPr id="20" name="Shape 18"/>
          <p:cNvSpPr/>
          <p:nvPr/>
        </p:nvSpPr>
        <p:spPr>
          <a:xfrm>
            <a:off x="4645152" y="4274820"/>
            <a:ext cx="201168" cy="0"/>
          </a:xfrm>
          <a:prstGeom prst="line">
            <a:avLst/>
          </a:prstGeom>
          <a:noFill/>
          <a:ln w="22225">
            <a:solidFill>
              <a:srgbClr val="C68A3E"/>
            </a:solidFill>
            <a:prstDash val="solid"/>
            <a:tailEnd type="triangle"/>
          </a:ln>
        </p:spPr>
      </p:sp>
      <p:sp>
        <p:nvSpPr>
          <p:cNvPr id="21" name="Shape 19"/>
          <p:cNvSpPr/>
          <p:nvPr/>
        </p:nvSpPr>
        <p:spPr>
          <a:xfrm>
            <a:off x="4846320" y="3886200"/>
            <a:ext cx="1993392" cy="777240"/>
          </a:xfrm>
          <a:prstGeom prst="roundRect">
            <a:avLst>
              <a:gd name="adj" fmla="val 8235"/>
            </a:avLst>
          </a:prstGeom>
          <a:solidFill>
            <a:srgbClr val="14201A"/>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2" name="Text 20"/>
          <p:cNvSpPr/>
          <p:nvPr/>
        </p:nvSpPr>
        <p:spPr>
          <a:xfrm>
            <a:off x="4846320" y="3886200"/>
            <a:ext cx="1993392" cy="77724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Ubicar sin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colisión (IoU)</a:t>
            </a:r>
            <a:endParaRPr lang="en-US" sz="1000" dirty="0"/>
          </a:p>
        </p:txBody>
      </p:sp>
      <p:sp>
        <p:nvSpPr>
          <p:cNvPr id="23" name="Shape 21"/>
          <p:cNvSpPr/>
          <p:nvPr/>
        </p:nvSpPr>
        <p:spPr>
          <a:xfrm>
            <a:off x="6839712" y="4274820"/>
            <a:ext cx="201168" cy="0"/>
          </a:xfrm>
          <a:prstGeom prst="line">
            <a:avLst/>
          </a:prstGeom>
          <a:noFill/>
          <a:ln w="22225">
            <a:solidFill>
              <a:srgbClr val="C68A3E"/>
            </a:solidFill>
            <a:prstDash val="solid"/>
            <a:tailEnd type="triangle"/>
          </a:ln>
        </p:spPr>
      </p:sp>
      <p:sp>
        <p:nvSpPr>
          <p:cNvPr id="24" name="Shape 22"/>
          <p:cNvSpPr/>
          <p:nvPr/>
        </p:nvSpPr>
        <p:spPr>
          <a:xfrm>
            <a:off x="7040880" y="3886200"/>
            <a:ext cx="1993392" cy="777240"/>
          </a:xfrm>
          <a:prstGeom prst="roundRect">
            <a:avLst>
              <a:gd name="adj" fmla="val 8235"/>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5" name="Text 23"/>
          <p:cNvSpPr/>
          <p:nvPr/>
        </p:nvSpPr>
        <p:spPr>
          <a:xfrm>
            <a:off x="7040880" y="3886200"/>
            <a:ext cx="1993392" cy="777240"/>
          </a:xfrm>
          <a:prstGeom prst="rect">
            <a:avLst/>
          </a:prstGeom>
          <a:noFill/>
          <a:ln/>
        </p:spPr>
        <p:txBody>
          <a:bodyPr wrap="square" lIns="25400" tIns="25400" rIns="25400" bIns="25400" rtlCol="0" anchor="ctr"/>
          <a:lstStyle/>
          <a:p>
            <a:pPr algn="ctr" indent="0" marL="0">
              <a:buNone/>
            </a:pPr>
            <a:r>
              <a:rPr lang="en-US" sz="1000" b="1" dirty="0">
                <a:solidFill>
                  <a:srgbClr val="16231C"/>
                </a:solidFill>
                <a:latin typeface="Calibri" pitchFamily="34" charset="0"/>
                <a:ea typeface="Calibri" pitchFamily="34" charset="-122"/>
                <a:cs typeface="Calibri" pitchFamily="34" charset="-120"/>
              </a:rPr>
              <a:t>Alpha</a:t>
            </a:r>
            <a:endParaRPr lang="en-US" sz="1000" dirty="0"/>
          </a:p>
          <a:p>
            <a:pPr algn="ctr" indent="0" marL="0">
              <a:buNone/>
            </a:pPr>
            <a:r>
              <a:rPr lang="en-US" sz="1000" b="1" dirty="0">
                <a:solidFill>
                  <a:srgbClr val="16231C"/>
                </a:solidFill>
                <a:latin typeface="Calibri" pitchFamily="34" charset="0"/>
                <a:ea typeface="Calibri" pitchFamily="34" charset="-122"/>
                <a:cs typeface="Calibri" pitchFamily="34" charset="-120"/>
              </a:rPr>
              <a:t>blending</a:t>
            </a:r>
            <a:endParaRPr lang="en-US" sz="1000" dirty="0"/>
          </a:p>
        </p:txBody>
      </p:sp>
      <p:sp>
        <p:nvSpPr>
          <p:cNvPr id="26" name="Shape 24"/>
          <p:cNvSpPr/>
          <p:nvPr/>
        </p:nvSpPr>
        <p:spPr>
          <a:xfrm>
            <a:off x="9034272" y="4274820"/>
            <a:ext cx="201168" cy="0"/>
          </a:xfrm>
          <a:prstGeom prst="line">
            <a:avLst/>
          </a:prstGeom>
          <a:noFill/>
          <a:ln w="22225">
            <a:solidFill>
              <a:srgbClr val="C68A3E"/>
            </a:solidFill>
            <a:prstDash val="solid"/>
            <a:tailEnd type="triangle"/>
          </a:ln>
        </p:spPr>
      </p:sp>
      <p:sp>
        <p:nvSpPr>
          <p:cNvPr id="27" name="Shape 25"/>
          <p:cNvSpPr/>
          <p:nvPr/>
        </p:nvSpPr>
        <p:spPr>
          <a:xfrm>
            <a:off x="9235440" y="3886200"/>
            <a:ext cx="1993392" cy="777240"/>
          </a:xfrm>
          <a:prstGeom prst="roundRect">
            <a:avLst>
              <a:gd name="adj" fmla="val 8235"/>
            </a:avLst>
          </a:prstGeom>
          <a:solidFill>
            <a:srgbClr val="14201A"/>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8" name="Text 26"/>
          <p:cNvSpPr/>
          <p:nvPr/>
        </p:nvSpPr>
        <p:spPr>
          <a:xfrm>
            <a:off x="9235440" y="3886200"/>
            <a:ext cx="1993392" cy="77724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Escribir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etiqueta YOLO</a:t>
            </a:r>
            <a:endParaRPr lang="en-US" sz="1000" dirty="0"/>
          </a:p>
        </p:txBody>
      </p:sp>
      <p:sp>
        <p:nvSpPr>
          <p:cNvPr id="29" name="Text 27"/>
          <p:cNvSpPr/>
          <p:nvPr/>
        </p:nvSpPr>
        <p:spPr>
          <a:xfrm>
            <a:off x="457200" y="4754880"/>
            <a:ext cx="3657600" cy="274320"/>
          </a:xfrm>
          <a:prstGeom prst="rect">
            <a:avLst/>
          </a:prstGeom>
          <a:noFill/>
          <a:ln/>
        </p:spPr>
        <p:txBody>
          <a:bodyPr wrap="square" lIns="0" tIns="0" rIns="0" bIns="0" rtlCol="0" anchor="ctr"/>
          <a:lstStyle/>
          <a:p>
            <a:pPr indent="0" marL="0">
              <a:buNone/>
            </a:pPr>
            <a:r>
              <a:rPr lang="en-US" sz="1050" i="1" dirty="0">
                <a:solidFill>
                  <a:srgbClr val="C68A3E"/>
                </a:solidFill>
                <a:latin typeface="Calibri" pitchFamily="34" charset="0"/>
                <a:ea typeface="Calibri" pitchFamily="34" charset="-122"/>
                <a:cs typeface="Calibri" pitchFamily="34" charset="-120"/>
              </a:rPr>
              <a:t>↻ repetir N veces</a:t>
            </a:r>
            <a:endParaRPr lang="en-US" sz="1050" dirty="0"/>
          </a:p>
        </p:txBody>
      </p:sp>
      <p:sp>
        <p:nvSpPr>
          <p:cNvPr id="30" name="Shape 28"/>
          <p:cNvSpPr/>
          <p:nvPr/>
        </p:nvSpPr>
        <p:spPr>
          <a:xfrm>
            <a:off x="457200" y="5120640"/>
            <a:ext cx="4206240" cy="685800"/>
          </a:xfrm>
          <a:prstGeom prst="roundRect">
            <a:avLst>
              <a:gd name="adj" fmla="val 9333"/>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31" name="Text 29"/>
          <p:cNvSpPr/>
          <p:nvPr/>
        </p:nvSpPr>
        <p:spPr>
          <a:xfrm>
            <a:off x="457200" y="5120640"/>
            <a:ext cx="4206240" cy="68580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Postproceso global (blur + ruido de sensor)</a:t>
            </a:r>
            <a:endParaRPr lang="en-US" sz="1100" dirty="0"/>
          </a:p>
        </p:txBody>
      </p:sp>
      <p:sp>
        <p:nvSpPr>
          <p:cNvPr id="32" name="Shape 30"/>
          <p:cNvSpPr/>
          <p:nvPr/>
        </p:nvSpPr>
        <p:spPr>
          <a:xfrm>
            <a:off x="4937760" y="5120640"/>
            <a:ext cx="4069080" cy="685800"/>
          </a:xfrm>
          <a:prstGeom prst="roundRect">
            <a:avLst>
              <a:gd name="adj" fmla="val 9333"/>
            </a:avLst>
          </a:prstGeom>
          <a:solidFill>
            <a:srgbClr val="14201A"/>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33" name="Text 31"/>
          <p:cNvSpPr/>
          <p:nvPr/>
        </p:nvSpPr>
        <p:spPr>
          <a:xfrm>
            <a:off x="4937760" y="5120640"/>
            <a:ext cx="4069080" cy="68580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Imagen sintética + labels (ground truth exacto)</a:t>
            </a:r>
            <a:endParaRPr lang="en-US" sz="1100" dirty="0"/>
          </a:p>
        </p:txBody>
      </p:sp>
      <p:sp>
        <p:nvSpPr>
          <p:cNvPr id="34" name="Shape 32"/>
          <p:cNvSpPr/>
          <p:nvPr/>
        </p:nvSpPr>
        <p:spPr>
          <a:xfrm>
            <a:off x="4663440" y="5463540"/>
            <a:ext cx="274320" cy="0"/>
          </a:xfrm>
          <a:prstGeom prst="line">
            <a:avLst/>
          </a:prstGeom>
          <a:noFill/>
          <a:ln w="22225">
            <a:solidFill>
              <a:srgbClr val="C68A3E"/>
            </a:solidFill>
            <a:prstDash val="solid"/>
            <a:tailEnd type="triangle"/>
          </a:ln>
        </p:spPr>
      </p:sp>
      <p:sp>
        <p:nvSpPr>
          <p:cNvPr id="35" name="Text 3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36" name="Text 34"/>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FUNDAMENTOS I</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Teoría de la síntesis de imagen</a:t>
            </a:r>
            <a:endParaRPr lang="en-US" sz="3000" dirty="0"/>
          </a:p>
        </p:txBody>
      </p:sp>
      <p:sp>
        <p:nvSpPr>
          <p:cNvPr id="5" name="Shape 3"/>
          <p:cNvSpPr/>
          <p:nvPr/>
        </p:nvSpPr>
        <p:spPr>
          <a:xfrm>
            <a:off x="457200" y="1828800"/>
            <a:ext cx="5486400" cy="1627632"/>
          </a:xfrm>
          <a:prstGeom prst="roundRect">
            <a:avLst>
              <a:gd name="adj" fmla="val 5618"/>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6" name="Text 4"/>
          <p:cNvSpPr/>
          <p:nvPr/>
        </p:nvSpPr>
        <p:spPr>
          <a:xfrm>
            <a:off x="731520" y="2011680"/>
            <a:ext cx="4937760" cy="365760"/>
          </a:xfrm>
          <a:prstGeom prst="rect">
            <a:avLst/>
          </a:prstGeom>
          <a:noFill/>
          <a:ln/>
        </p:spPr>
        <p:txBody>
          <a:bodyPr wrap="square" lIns="0" tIns="0" rIns="0" bIns="0" rtlCol="0" anchor="ctr"/>
          <a:lstStyle/>
          <a:p>
            <a:pPr indent="0" marL="0">
              <a:buNone/>
            </a:pPr>
            <a:r>
              <a:rPr lang="en-US" sz="1500" b="1" dirty="0">
                <a:solidFill>
                  <a:srgbClr val="16231C"/>
                </a:solidFill>
                <a:latin typeface="Calibri" pitchFamily="34" charset="0"/>
                <a:ea typeface="Calibri" pitchFamily="34" charset="-122"/>
                <a:cs typeface="Calibri" pitchFamily="34" charset="-120"/>
              </a:rPr>
              <a:t>Umbralizado de Otsu</a:t>
            </a:r>
            <a:endParaRPr lang="en-US" sz="1500" dirty="0"/>
          </a:p>
        </p:txBody>
      </p:sp>
      <p:sp>
        <p:nvSpPr>
          <p:cNvPr id="7" name="Text 5"/>
          <p:cNvSpPr/>
          <p:nvPr/>
        </p:nvSpPr>
        <p:spPr>
          <a:xfrm>
            <a:off x="731520" y="2395728"/>
            <a:ext cx="4937760" cy="411480"/>
          </a:xfrm>
          <a:prstGeom prst="rect">
            <a:avLst/>
          </a:prstGeom>
          <a:noFill/>
          <a:ln/>
        </p:spPr>
        <p:txBody>
          <a:bodyPr wrap="square" lIns="0" tIns="0" rIns="0" bIns="0" rtlCol="0" anchor="ctr"/>
          <a:lstStyle/>
          <a:p>
            <a:pPr indent="0" marL="0">
              <a:buNone/>
            </a:pPr>
            <a:r>
              <a:rPr lang="en-US" sz="1400" b="1" dirty="0">
                <a:solidFill>
                  <a:srgbClr val="2F7D52"/>
                </a:solidFill>
                <a:latin typeface="Consolas" pitchFamily="34" charset="0"/>
                <a:ea typeface="Consolas" pitchFamily="34" charset="-122"/>
                <a:cs typeface="Consolas" pitchFamily="34" charset="-120"/>
              </a:rPr>
              <a:t>t* = argmax  σ²_b(t)</a:t>
            </a:r>
            <a:endParaRPr lang="en-US" sz="1400" dirty="0"/>
          </a:p>
        </p:txBody>
      </p:sp>
      <p:sp>
        <p:nvSpPr>
          <p:cNvPr id="8" name="Text 6"/>
          <p:cNvSpPr/>
          <p:nvPr/>
        </p:nvSpPr>
        <p:spPr>
          <a:xfrm>
            <a:off x="731520" y="2816352"/>
            <a:ext cx="4937760" cy="54864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Elige solo el umbral que maximiza la varianza entre objeto y fondo. No paramétrico.</a:t>
            </a:r>
            <a:endParaRPr lang="en-US" sz="1100" dirty="0"/>
          </a:p>
        </p:txBody>
      </p:sp>
      <p:sp>
        <p:nvSpPr>
          <p:cNvPr id="9" name="Shape 7"/>
          <p:cNvSpPr/>
          <p:nvPr/>
        </p:nvSpPr>
        <p:spPr>
          <a:xfrm>
            <a:off x="6217920" y="1828800"/>
            <a:ext cx="5486400" cy="1627632"/>
          </a:xfrm>
          <a:prstGeom prst="roundRect">
            <a:avLst>
              <a:gd name="adj" fmla="val 5618"/>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0" name="Text 8"/>
          <p:cNvSpPr/>
          <p:nvPr/>
        </p:nvSpPr>
        <p:spPr>
          <a:xfrm>
            <a:off x="6492240" y="2011680"/>
            <a:ext cx="4937760" cy="365760"/>
          </a:xfrm>
          <a:prstGeom prst="rect">
            <a:avLst/>
          </a:prstGeom>
          <a:noFill/>
          <a:ln/>
        </p:spPr>
        <p:txBody>
          <a:bodyPr wrap="square" lIns="0" tIns="0" rIns="0" bIns="0" rtlCol="0" anchor="ctr"/>
          <a:lstStyle/>
          <a:p>
            <a:pPr indent="0" marL="0">
              <a:buNone/>
            </a:pPr>
            <a:r>
              <a:rPr lang="en-US" sz="1500" b="1" dirty="0">
                <a:solidFill>
                  <a:srgbClr val="16231C"/>
                </a:solidFill>
                <a:latin typeface="Calibri" pitchFamily="34" charset="0"/>
                <a:ea typeface="Calibri" pitchFamily="34" charset="-122"/>
                <a:cs typeface="Calibri" pitchFamily="34" charset="-120"/>
              </a:rPr>
              <a:t>Máscara alfa + recorte</a:t>
            </a:r>
            <a:endParaRPr lang="en-US" sz="1500" dirty="0"/>
          </a:p>
        </p:txBody>
      </p:sp>
      <p:sp>
        <p:nvSpPr>
          <p:cNvPr id="11" name="Text 9"/>
          <p:cNvSpPr/>
          <p:nvPr/>
        </p:nvSpPr>
        <p:spPr>
          <a:xfrm>
            <a:off x="6492240" y="2395728"/>
            <a:ext cx="4937760" cy="411480"/>
          </a:xfrm>
          <a:prstGeom prst="rect">
            <a:avLst/>
          </a:prstGeom>
          <a:noFill/>
          <a:ln/>
        </p:spPr>
        <p:txBody>
          <a:bodyPr wrap="square" lIns="0" tIns="0" rIns="0" bIns="0" rtlCol="0" anchor="ctr"/>
          <a:lstStyle/>
          <a:p>
            <a:pPr indent="0" marL="0">
              <a:buNone/>
            </a:pPr>
            <a:r>
              <a:rPr lang="en-US" sz="1400" b="1" dirty="0">
                <a:solidFill>
                  <a:srgbClr val="2F7D52"/>
                </a:solidFill>
                <a:latin typeface="Consolas" pitchFamily="34" charset="0"/>
                <a:ea typeface="Consolas" pitchFamily="34" charset="-122"/>
                <a:cs typeface="Consolas" pitchFamily="34" charset="-120"/>
              </a:rPr>
              <a:t>RGBA · α=255 grano / 0 fondo</a:t>
            </a:r>
            <a:endParaRPr lang="en-US" sz="1400" dirty="0"/>
          </a:p>
        </p:txBody>
      </p:sp>
      <p:sp>
        <p:nvSpPr>
          <p:cNvPr id="12" name="Text 10"/>
          <p:cNvSpPr/>
          <p:nvPr/>
        </p:nvSpPr>
        <p:spPr>
          <a:xfrm>
            <a:off x="6492240" y="2816352"/>
            <a:ext cx="4937760" cy="54864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La máscara va al canal alfa; se recorta a la bbox. Grano reutilizable sin fondo.</a:t>
            </a:r>
            <a:endParaRPr lang="en-US" sz="1100" dirty="0"/>
          </a:p>
        </p:txBody>
      </p:sp>
      <p:sp>
        <p:nvSpPr>
          <p:cNvPr id="13" name="Shape 11"/>
          <p:cNvSpPr/>
          <p:nvPr/>
        </p:nvSpPr>
        <p:spPr>
          <a:xfrm>
            <a:off x="457200" y="3657600"/>
            <a:ext cx="5486400" cy="1627632"/>
          </a:xfrm>
          <a:prstGeom prst="roundRect">
            <a:avLst>
              <a:gd name="adj" fmla="val 5618"/>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4" name="Text 12"/>
          <p:cNvSpPr/>
          <p:nvPr/>
        </p:nvSpPr>
        <p:spPr>
          <a:xfrm>
            <a:off x="731520" y="3840480"/>
            <a:ext cx="4937760" cy="365760"/>
          </a:xfrm>
          <a:prstGeom prst="rect">
            <a:avLst/>
          </a:prstGeom>
          <a:noFill/>
          <a:ln/>
        </p:spPr>
        <p:txBody>
          <a:bodyPr wrap="square" lIns="0" tIns="0" rIns="0" bIns="0" rtlCol="0" anchor="ctr"/>
          <a:lstStyle/>
          <a:p>
            <a:pPr indent="0" marL="0">
              <a:buNone/>
            </a:pPr>
            <a:r>
              <a:rPr lang="en-US" sz="1500" b="1" dirty="0">
                <a:solidFill>
                  <a:srgbClr val="16231C"/>
                </a:solidFill>
                <a:latin typeface="Calibri" pitchFamily="34" charset="0"/>
                <a:ea typeface="Calibri" pitchFamily="34" charset="-122"/>
                <a:cs typeface="Calibri" pitchFamily="34" charset="-120"/>
              </a:rPr>
              <a:t>Alpha compositing</a:t>
            </a:r>
            <a:endParaRPr lang="en-US" sz="1500" dirty="0"/>
          </a:p>
        </p:txBody>
      </p:sp>
      <p:sp>
        <p:nvSpPr>
          <p:cNvPr id="15" name="Text 13"/>
          <p:cNvSpPr/>
          <p:nvPr/>
        </p:nvSpPr>
        <p:spPr>
          <a:xfrm>
            <a:off x="731520" y="4224528"/>
            <a:ext cx="4937760" cy="411480"/>
          </a:xfrm>
          <a:prstGeom prst="rect">
            <a:avLst/>
          </a:prstGeom>
          <a:noFill/>
          <a:ln/>
        </p:spPr>
        <p:txBody>
          <a:bodyPr wrap="square" lIns="0" tIns="0" rIns="0" bIns="0" rtlCol="0" anchor="ctr"/>
          <a:lstStyle/>
          <a:p>
            <a:pPr indent="0" marL="0">
              <a:buNone/>
            </a:pPr>
            <a:r>
              <a:rPr lang="en-US" sz="1400" b="1" dirty="0">
                <a:solidFill>
                  <a:srgbClr val="2F7D52"/>
                </a:solidFill>
                <a:latin typeface="Consolas" pitchFamily="34" charset="0"/>
                <a:ea typeface="Consolas" pitchFamily="34" charset="-122"/>
                <a:cs typeface="Consolas" pitchFamily="34" charset="-120"/>
              </a:rPr>
              <a:t>I = α·F + (1−α)·B</a:t>
            </a:r>
            <a:endParaRPr lang="en-US" sz="1400" dirty="0"/>
          </a:p>
        </p:txBody>
      </p:sp>
      <p:sp>
        <p:nvSpPr>
          <p:cNvPr id="16" name="Text 14"/>
          <p:cNvSpPr/>
          <p:nvPr/>
        </p:nvSpPr>
        <p:spPr>
          <a:xfrm>
            <a:off x="731520" y="4645152"/>
            <a:ext cx="4937760" cy="54864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Pega el grano con bordes suaves (sin aliasing). Ecuación 'over' de Porter–Duff.</a:t>
            </a:r>
            <a:endParaRPr lang="en-US" sz="1100" dirty="0"/>
          </a:p>
        </p:txBody>
      </p:sp>
      <p:sp>
        <p:nvSpPr>
          <p:cNvPr id="17" name="Shape 15"/>
          <p:cNvSpPr/>
          <p:nvPr/>
        </p:nvSpPr>
        <p:spPr>
          <a:xfrm>
            <a:off x="6217920" y="3657600"/>
            <a:ext cx="5486400" cy="1627632"/>
          </a:xfrm>
          <a:prstGeom prst="roundRect">
            <a:avLst>
              <a:gd name="adj" fmla="val 5618"/>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8" name="Text 16"/>
          <p:cNvSpPr/>
          <p:nvPr/>
        </p:nvSpPr>
        <p:spPr>
          <a:xfrm>
            <a:off x="6492240" y="3840480"/>
            <a:ext cx="4937760" cy="365760"/>
          </a:xfrm>
          <a:prstGeom prst="rect">
            <a:avLst/>
          </a:prstGeom>
          <a:noFill/>
          <a:ln/>
        </p:spPr>
        <p:txBody>
          <a:bodyPr wrap="square" lIns="0" tIns="0" rIns="0" bIns="0" rtlCol="0" anchor="ctr"/>
          <a:lstStyle/>
          <a:p>
            <a:pPr indent="0" marL="0">
              <a:buNone/>
            </a:pPr>
            <a:r>
              <a:rPr lang="en-US" sz="1500" b="1" dirty="0">
                <a:solidFill>
                  <a:srgbClr val="16231C"/>
                </a:solidFill>
                <a:latin typeface="Calibri" pitchFamily="34" charset="0"/>
                <a:ea typeface="Calibri" pitchFamily="34" charset="-122"/>
                <a:cs typeface="Calibri" pitchFamily="34" charset="-120"/>
              </a:rPr>
              <a:t>Control de oclusión (IoU)</a:t>
            </a:r>
            <a:endParaRPr lang="en-US" sz="1500" dirty="0"/>
          </a:p>
        </p:txBody>
      </p:sp>
      <p:sp>
        <p:nvSpPr>
          <p:cNvPr id="19" name="Text 17"/>
          <p:cNvSpPr/>
          <p:nvPr/>
        </p:nvSpPr>
        <p:spPr>
          <a:xfrm>
            <a:off x="6492240" y="4224528"/>
            <a:ext cx="4937760" cy="411480"/>
          </a:xfrm>
          <a:prstGeom prst="rect">
            <a:avLst/>
          </a:prstGeom>
          <a:noFill/>
          <a:ln/>
        </p:spPr>
        <p:txBody>
          <a:bodyPr wrap="square" lIns="0" tIns="0" rIns="0" bIns="0" rtlCol="0" anchor="ctr"/>
          <a:lstStyle/>
          <a:p>
            <a:pPr indent="0" marL="0">
              <a:buNone/>
            </a:pPr>
            <a:r>
              <a:rPr lang="en-US" sz="1400" b="1" dirty="0">
                <a:solidFill>
                  <a:srgbClr val="2F7D52"/>
                </a:solidFill>
                <a:latin typeface="Consolas" pitchFamily="34" charset="0"/>
                <a:ea typeface="Consolas" pitchFamily="34" charset="-122"/>
                <a:cs typeface="Consolas" pitchFamily="34" charset="-120"/>
              </a:rPr>
              <a:t>IoU = |A∩B| / |A∪B|</a:t>
            </a:r>
            <a:endParaRPr lang="en-US" sz="1400" dirty="0"/>
          </a:p>
        </p:txBody>
      </p:sp>
      <p:sp>
        <p:nvSpPr>
          <p:cNvPr id="20" name="Text 18"/>
          <p:cNvSpPr/>
          <p:nvPr/>
        </p:nvSpPr>
        <p:spPr>
          <a:xfrm>
            <a:off x="6492240" y="4645152"/>
            <a:ext cx="4937760" cy="54864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Solapamiento contra la ocupación global; si supera el umbral, se reubica.</a:t>
            </a:r>
            <a:endParaRPr lang="en-US" sz="1100" dirty="0"/>
          </a:p>
        </p:txBody>
      </p:sp>
      <p:sp>
        <p:nvSpPr>
          <p:cNvPr id="21" name="Text 19"/>
          <p:cNvSpPr/>
          <p:nvPr/>
        </p:nvSpPr>
        <p:spPr>
          <a:xfrm>
            <a:off x="457200" y="5486400"/>
            <a:ext cx="11247120" cy="457200"/>
          </a:xfrm>
          <a:prstGeom prst="rect">
            <a:avLst/>
          </a:prstGeom>
          <a:noFill/>
          <a:ln/>
        </p:spPr>
        <p:txBody>
          <a:bodyPr wrap="square" rtlCol="0" anchor="ctr"/>
          <a:lstStyle/>
          <a:p>
            <a:pPr algn="ctr" indent="0" marL="0">
              <a:buNone/>
            </a:pPr>
            <a:r>
              <a:rPr lang="en-US" sz="1250" i="1" dirty="0">
                <a:solidFill>
                  <a:srgbClr val="C68A3E"/>
                </a:solidFill>
                <a:latin typeface="Calibri" pitchFamily="34" charset="0"/>
                <a:ea typeface="Calibri" pitchFamily="34" charset="-122"/>
                <a:cs typeface="Calibri" pitchFamily="34" charset="-120"/>
              </a:rPr>
              <a:t>Domain randomization: aleatorizar lo irrelevante (pose, color, ruido) fuerza al modelo a aprender lo invariante — la forma del grano.</a:t>
            </a:r>
            <a:endParaRPr lang="en-US" sz="1250" dirty="0"/>
          </a:p>
        </p:txBody>
      </p:sp>
      <p:sp>
        <p:nvSpPr>
          <p:cNvPr id="22" name="Text 2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23" name="Text 21"/>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3"/>
        </a:solidFill>
      </p:bgPr>
    </p:bg>
    <p:spTree>
      <p:nvGrpSpPr>
        <p:cNvPr id="1" name=""/>
        <p:cNvGrpSpPr/>
        <p:nvPr/>
      </p:nvGrpSpPr>
      <p:grpSpPr>
        <a:xfrm>
          <a:off x="0" y="0"/>
          <a:ext cx="0" cy="0"/>
          <a:chOff x="0" y="0"/>
          <a:chExt cx="0" cy="0"/>
        </a:xfrm>
      </p:grpSpPr>
      <p:sp>
        <p:nvSpPr>
          <p:cNvPr id="2" name="Shape 0"/>
          <p:cNvSpPr/>
          <p:nvPr/>
        </p:nvSpPr>
        <p:spPr>
          <a:xfrm rot="480000">
            <a:off x="457200" y="475488"/>
            <a:ext cx="292608" cy="292608"/>
          </a:xfrm>
          <a:prstGeom prst="roundRect">
            <a:avLst>
              <a:gd name="adj" fmla="val 43478"/>
            </a:avLst>
          </a:prstGeom>
          <a:solidFill>
            <a:srgbClr val="D8A657"/>
          </a:solidFill>
          <a:ln/>
        </p:spPr>
      </p:sp>
      <p:sp>
        <p:nvSpPr>
          <p:cNvPr id="3" name="Text 1"/>
          <p:cNvSpPr/>
          <p:nvPr/>
        </p:nvSpPr>
        <p:spPr>
          <a:xfrm>
            <a:off x="868680" y="411480"/>
            <a:ext cx="8229600" cy="274320"/>
          </a:xfrm>
          <a:prstGeom prst="rect">
            <a:avLst/>
          </a:prstGeom>
          <a:noFill/>
          <a:ln/>
        </p:spPr>
        <p:txBody>
          <a:bodyPr wrap="square" lIns="0" tIns="0" rIns="0" bIns="0" rtlCol="0" anchor="ctr"/>
          <a:lstStyle/>
          <a:p>
            <a:pPr indent="0" marL="0">
              <a:buNone/>
            </a:pPr>
            <a:r>
              <a:rPr lang="en-US" sz="1150" b="1" spc="300" kern="0" dirty="0">
                <a:solidFill>
                  <a:srgbClr val="C68A3E"/>
                </a:solidFill>
                <a:latin typeface="Calibri" pitchFamily="34" charset="0"/>
                <a:ea typeface="Calibri" pitchFamily="34" charset="-122"/>
                <a:cs typeface="Calibri" pitchFamily="34" charset="-120"/>
              </a:rPr>
              <a:t>FUNDAMENTOS II</a:t>
            </a:r>
            <a:endParaRPr lang="en-US" sz="1150" dirty="0"/>
          </a:p>
        </p:txBody>
      </p:sp>
      <p:sp>
        <p:nvSpPr>
          <p:cNvPr id="4" name="Text 2"/>
          <p:cNvSpPr/>
          <p:nvPr/>
        </p:nvSpPr>
        <p:spPr>
          <a:xfrm>
            <a:off x="457200" y="713232"/>
            <a:ext cx="11247120" cy="777240"/>
          </a:xfrm>
          <a:prstGeom prst="rect">
            <a:avLst/>
          </a:prstGeom>
          <a:noFill/>
          <a:ln/>
        </p:spPr>
        <p:txBody>
          <a:bodyPr wrap="square" lIns="0" tIns="0" rIns="0" bIns="0" rtlCol="0" anchor="ctr"/>
          <a:lstStyle/>
          <a:p>
            <a:pPr indent="0" marL="0">
              <a:buNone/>
            </a:pPr>
            <a:r>
              <a:rPr lang="en-US" sz="3000" b="1" dirty="0">
                <a:solidFill>
                  <a:srgbClr val="16231C"/>
                </a:solidFill>
                <a:latin typeface="Calibri" pitchFamily="34" charset="0"/>
                <a:ea typeface="Calibri" pitchFamily="34" charset="-122"/>
                <a:cs typeface="Calibri" pitchFamily="34" charset="-120"/>
              </a:rPr>
              <a:t>Teoría del aprendizaje y la evaluación</a:t>
            </a:r>
            <a:endParaRPr lang="en-US" sz="30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400" b="1" dirty="0">
                <a:solidFill>
                  <a:srgbClr val="2F7D52"/>
                </a:solidFill>
                <a:latin typeface="Calibri" pitchFamily="34" charset="0"/>
                <a:ea typeface="Calibri" pitchFamily="34" charset="-122"/>
                <a:cs typeface="Calibri" pitchFamily="34" charset="-120"/>
              </a:rPr>
              <a:t>Esquema de entrenamiento</a:t>
            </a:r>
            <a:endParaRPr lang="en-US" sz="1400" dirty="0"/>
          </a:p>
        </p:txBody>
      </p:sp>
      <p:sp>
        <p:nvSpPr>
          <p:cNvPr id="6" name="Shape 4"/>
          <p:cNvSpPr/>
          <p:nvPr/>
        </p:nvSpPr>
        <p:spPr>
          <a:xfrm>
            <a:off x="457200" y="2240280"/>
            <a:ext cx="1737360" cy="731520"/>
          </a:xfrm>
          <a:prstGeom prst="roundRect">
            <a:avLst>
              <a:gd name="adj" fmla="val 875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7" name="Text 5"/>
          <p:cNvSpPr/>
          <p:nvPr/>
        </p:nvSpPr>
        <p:spPr>
          <a:xfrm>
            <a:off x="457200" y="2240280"/>
            <a:ext cx="1737360" cy="73152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Forward</a:t>
            </a:r>
            <a:endParaRPr lang="en-US" sz="1100" dirty="0"/>
          </a:p>
          <a:p>
            <a:pPr algn="ctr" indent="0" marL="0">
              <a:buNone/>
            </a:pPr>
            <a:r>
              <a:rPr lang="en-US" sz="1100" b="1" dirty="0">
                <a:solidFill>
                  <a:srgbClr val="16231C"/>
                </a:solidFill>
                <a:latin typeface="Calibri" pitchFamily="34" charset="0"/>
                <a:ea typeface="Calibri" pitchFamily="34" charset="-122"/>
                <a:cs typeface="Calibri" pitchFamily="34" charset="-120"/>
              </a:rPr>
              <a:t>(predicción)</a:t>
            </a:r>
            <a:endParaRPr lang="en-US" sz="1100" dirty="0"/>
          </a:p>
        </p:txBody>
      </p:sp>
      <p:sp>
        <p:nvSpPr>
          <p:cNvPr id="8" name="Shape 6"/>
          <p:cNvSpPr/>
          <p:nvPr/>
        </p:nvSpPr>
        <p:spPr>
          <a:xfrm>
            <a:off x="2468880" y="2240280"/>
            <a:ext cx="1828800" cy="731520"/>
          </a:xfrm>
          <a:prstGeom prst="roundRect">
            <a:avLst>
              <a:gd name="adj" fmla="val 875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9" name="Text 7"/>
          <p:cNvSpPr/>
          <p:nvPr/>
        </p:nvSpPr>
        <p:spPr>
          <a:xfrm>
            <a:off x="2468880" y="2240280"/>
            <a:ext cx="1828800" cy="73152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Pérdida L</a:t>
            </a:r>
            <a:endParaRPr lang="en-US" sz="1100" dirty="0"/>
          </a:p>
          <a:p>
            <a:pPr algn="ctr" indent="0" marL="0">
              <a:buNone/>
            </a:pPr>
            <a:r>
              <a:rPr lang="en-US" sz="1100" b="1" dirty="0">
                <a:solidFill>
                  <a:srgbClr val="16231C"/>
                </a:solidFill>
                <a:latin typeface="Calibri" pitchFamily="34" charset="0"/>
                <a:ea typeface="Calibri" pitchFamily="34" charset="-122"/>
                <a:cs typeface="Calibri" pitchFamily="34" charset="-120"/>
              </a:rPr>
              <a:t>vs ground truth</a:t>
            </a:r>
            <a:endParaRPr lang="en-US" sz="1100" dirty="0"/>
          </a:p>
        </p:txBody>
      </p:sp>
      <p:sp>
        <p:nvSpPr>
          <p:cNvPr id="10" name="Shape 8"/>
          <p:cNvSpPr/>
          <p:nvPr/>
        </p:nvSpPr>
        <p:spPr>
          <a:xfrm>
            <a:off x="4572000" y="2240280"/>
            <a:ext cx="1828800" cy="731520"/>
          </a:xfrm>
          <a:prstGeom prst="roundRect">
            <a:avLst>
              <a:gd name="adj" fmla="val 875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1" name="Text 9"/>
          <p:cNvSpPr/>
          <p:nvPr/>
        </p:nvSpPr>
        <p:spPr>
          <a:xfrm>
            <a:off x="4572000" y="2240280"/>
            <a:ext cx="1828800" cy="73152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Backprop</a:t>
            </a:r>
            <a:endParaRPr lang="en-US" sz="1100" dirty="0"/>
          </a:p>
          <a:p>
            <a:pPr algn="ctr" indent="0" marL="0">
              <a:buNone/>
            </a:pPr>
            <a:r>
              <a:rPr lang="en-US" sz="1100" b="1" dirty="0">
                <a:solidFill>
                  <a:srgbClr val="16231C"/>
                </a:solidFill>
                <a:latin typeface="Calibri" pitchFamily="34" charset="0"/>
                <a:ea typeface="Calibri" pitchFamily="34" charset="-122"/>
                <a:cs typeface="Calibri" pitchFamily="34" charset="-120"/>
              </a:rPr>
              <a:t>∂L/∂w</a:t>
            </a:r>
            <a:endParaRPr lang="en-US" sz="1100" dirty="0"/>
          </a:p>
        </p:txBody>
      </p:sp>
      <p:sp>
        <p:nvSpPr>
          <p:cNvPr id="12" name="Shape 10"/>
          <p:cNvSpPr/>
          <p:nvPr/>
        </p:nvSpPr>
        <p:spPr>
          <a:xfrm>
            <a:off x="6675120" y="2240280"/>
            <a:ext cx="1737360" cy="731520"/>
          </a:xfrm>
          <a:prstGeom prst="roundRect">
            <a:avLst>
              <a:gd name="adj" fmla="val 8750"/>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13" name="Text 11"/>
          <p:cNvSpPr/>
          <p:nvPr/>
        </p:nvSpPr>
        <p:spPr>
          <a:xfrm>
            <a:off x="6675120" y="2240280"/>
            <a:ext cx="1737360" cy="731520"/>
          </a:xfrm>
          <a:prstGeom prst="rect">
            <a:avLst/>
          </a:prstGeom>
          <a:noFill/>
          <a:ln/>
        </p:spPr>
        <p:txBody>
          <a:bodyPr wrap="square" lIns="25400" tIns="25400" rIns="25400" bIns="25400" rtlCol="0" anchor="ctr"/>
          <a:lstStyle/>
          <a:p>
            <a:pPr algn="ctr" indent="0" marL="0">
              <a:buNone/>
            </a:pPr>
            <a:r>
              <a:rPr lang="en-US" sz="1100" b="1" dirty="0">
                <a:solidFill>
                  <a:srgbClr val="16231C"/>
                </a:solidFill>
                <a:latin typeface="Calibri" pitchFamily="34" charset="0"/>
                <a:ea typeface="Calibri" pitchFamily="34" charset="-122"/>
                <a:cs typeface="Calibri" pitchFamily="34" charset="-120"/>
              </a:rPr>
              <a:t>Actualizar</a:t>
            </a:r>
            <a:endParaRPr lang="en-US" sz="1100" dirty="0"/>
          </a:p>
          <a:p>
            <a:pPr algn="ctr" indent="0" marL="0">
              <a:buNone/>
            </a:pPr>
            <a:r>
              <a:rPr lang="en-US" sz="1100" b="1" dirty="0">
                <a:solidFill>
                  <a:srgbClr val="16231C"/>
                </a:solidFill>
                <a:latin typeface="Calibri" pitchFamily="34" charset="0"/>
                <a:ea typeface="Calibri" pitchFamily="34" charset="-122"/>
                <a:cs typeface="Calibri" pitchFamily="34" charset="-120"/>
              </a:rPr>
              <a:t>pesos</a:t>
            </a:r>
            <a:endParaRPr lang="en-US" sz="1100" dirty="0"/>
          </a:p>
        </p:txBody>
      </p:sp>
      <p:sp>
        <p:nvSpPr>
          <p:cNvPr id="14" name="Shape 12"/>
          <p:cNvSpPr/>
          <p:nvPr/>
        </p:nvSpPr>
        <p:spPr>
          <a:xfrm>
            <a:off x="2194560" y="2606040"/>
            <a:ext cx="274320" cy="0"/>
          </a:xfrm>
          <a:prstGeom prst="line">
            <a:avLst/>
          </a:prstGeom>
          <a:noFill/>
          <a:ln w="22225">
            <a:solidFill>
              <a:srgbClr val="C68A3E"/>
            </a:solidFill>
            <a:prstDash val="solid"/>
            <a:tailEnd type="triangle"/>
          </a:ln>
        </p:spPr>
      </p:sp>
      <p:sp>
        <p:nvSpPr>
          <p:cNvPr id="15" name="Shape 13"/>
          <p:cNvSpPr/>
          <p:nvPr/>
        </p:nvSpPr>
        <p:spPr>
          <a:xfrm>
            <a:off x="4297680" y="2606040"/>
            <a:ext cx="274320" cy="0"/>
          </a:xfrm>
          <a:prstGeom prst="line">
            <a:avLst/>
          </a:prstGeom>
          <a:noFill/>
          <a:ln w="22225">
            <a:solidFill>
              <a:srgbClr val="C68A3E"/>
            </a:solidFill>
            <a:prstDash val="solid"/>
            <a:tailEnd type="triangle"/>
          </a:ln>
        </p:spPr>
      </p:sp>
      <p:sp>
        <p:nvSpPr>
          <p:cNvPr id="16" name="Shape 14"/>
          <p:cNvSpPr/>
          <p:nvPr/>
        </p:nvSpPr>
        <p:spPr>
          <a:xfrm>
            <a:off x="6400800" y="2606040"/>
            <a:ext cx="274320" cy="0"/>
          </a:xfrm>
          <a:prstGeom prst="line">
            <a:avLst/>
          </a:prstGeom>
          <a:noFill/>
          <a:ln w="22225">
            <a:solidFill>
              <a:srgbClr val="C68A3E"/>
            </a:solidFill>
            <a:prstDash val="solid"/>
            <a:tailEnd type="triangle"/>
          </a:ln>
        </p:spPr>
      </p:sp>
      <p:sp>
        <p:nvSpPr>
          <p:cNvPr id="17" name="Shape 15"/>
          <p:cNvSpPr/>
          <p:nvPr/>
        </p:nvSpPr>
        <p:spPr>
          <a:xfrm>
            <a:off x="7543800" y="2971800"/>
            <a:ext cx="0" cy="411480"/>
          </a:xfrm>
          <a:prstGeom prst="line">
            <a:avLst/>
          </a:prstGeom>
          <a:noFill/>
          <a:ln w="19050">
            <a:solidFill>
              <a:srgbClr val="C68A3E"/>
            </a:solidFill>
            <a:prstDash val="solid"/>
          </a:ln>
        </p:spPr>
      </p:sp>
      <p:sp>
        <p:nvSpPr>
          <p:cNvPr id="18" name="Shape 16"/>
          <p:cNvSpPr/>
          <p:nvPr/>
        </p:nvSpPr>
        <p:spPr>
          <a:xfrm>
            <a:off x="1325880" y="3383280"/>
            <a:ext cx="6217920" cy="0"/>
          </a:xfrm>
          <a:prstGeom prst="line">
            <a:avLst/>
          </a:prstGeom>
          <a:noFill/>
          <a:ln w="19050">
            <a:solidFill>
              <a:srgbClr val="C68A3E"/>
            </a:solidFill>
            <a:prstDash val="solid"/>
          </a:ln>
        </p:spPr>
      </p:sp>
      <p:sp>
        <p:nvSpPr>
          <p:cNvPr id="19" name="Shape 17"/>
          <p:cNvSpPr/>
          <p:nvPr/>
        </p:nvSpPr>
        <p:spPr>
          <a:xfrm>
            <a:off x="1325880" y="2971800"/>
            <a:ext cx="0" cy="411480"/>
          </a:xfrm>
          <a:prstGeom prst="line">
            <a:avLst/>
          </a:prstGeom>
          <a:noFill/>
          <a:ln w="19050">
            <a:solidFill>
              <a:srgbClr val="C68A3E"/>
            </a:solidFill>
            <a:prstDash val="solid"/>
            <a:tailEnd type="triangle"/>
          </a:ln>
        </p:spPr>
      </p:sp>
      <p:sp>
        <p:nvSpPr>
          <p:cNvPr id="20" name="Text 18"/>
          <p:cNvSpPr/>
          <p:nvPr/>
        </p:nvSpPr>
        <p:spPr>
          <a:xfrm>
            <a:off x="2194560" y="3429000"/>
            <a:ext cx="4572000" cy="274320"/>
          </a:xfrm>
          <a:prstGeom prst="rect">
            <a:avLst/>
          </a:prstGeom>
          <a:noFill/>
          <a:ln/>
        </p:spPr>
        <p:txBody>
          <a:bodyPr wrap="square" lIns="0" tIns="0" rIns="0" bIns="0" rtlCol="0" anchor="ctr"/>
          <a:lstStyle/>
          <a:p>
            <a:pPr indent="0" marL="0">
              <a:buNone/>
            </a:pPr>
            <a:r>
              <a:rPr lang="en-US" sz="1000" i="1" dirty="0">
                <a:solidFill>
                  <a:srgbClr val="5A6F62"/>
                </a:solidFill>
                <a:latin typeface="Calibri" pitchFamily="34" charset="0"/>
                <a:ea typeface="Calibri" pitchFamily="34" charset="-122"/>
                <a:cs typeface="Calibri" pitchFamily="34" charset="-120"/>
              </a:rPr>
              <a:t>se repite por épocas hasta converger</a:t>
            </a:r>
            <a:endParaRPr lang="en-US" sz="1000" dirty="0"/>
          </a:p>
        </p:txBody>
      </p:sp>
      <p:sp>
        <p:nvSpPr>
          <p:cNvPr id="21" name="Shape 19"/>
          <p:cNvSpPr/>
          <p:nvPr/>
        </p:nvSpPr>
        <p:spPr>
          <a:xfrm>
            <a:off x="457200" y="4114800"/>
            <a:ext cx="548640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2" name="Text 20"/>
          <p:cNvSpPr/>
          <p:nvPr/>
        </p:nvSpPr>
        <p:spPr>
          <a:xfrm>
            <a:off x="731520" y="4279392"/>
            <a:ext cx="4937760" cy="365760"/>
          </a:xfrm>
          <a:prstGeom prst="rect">
            <a:avLst/>
          </a:prstGeom>
          <a:noFill/>
          <a:ln/>
        </p:spPr>
        <p:txBody>
          <a:bodyPr wrap="square" lIns="0" tIns="0" rIns="0" bIns="0" rtlCol="0" anchor="ctr"/>
          <a:lstStyle/>
          <a:p>
            <a:pPr indent="0" marL="0">
              <a:buNone/>
            </a:pPr>
            <a:r>
              <a:rPr lang="en-US" sz="1400" b="1" dirty="0">
                <a:solidFill>
                  <a:srgbClr val="16231C"/>
                </a:solidFill>
                <a:latin typeface="Calibri" pitchFamily="34" charset="0"/>
                <a:ea typeface="Calibri" pitchFamily="34" charset="-122"/>
                <a:cs typeface="Calibri" pitchFamily="34" charset="-120"/>
              </a:rPr>
              <a:t>Detector one-stage (YOLO)</a:t>
            </a:r>
            <a:endParaRPr lang="en-US" sz="1400" dirty="0"/>
          </a:p>
        </p:txBody>
      </p:sp>
      <p:sp>
        <p:nvSpPr>
          <p:cNvPr id="23" name="Text 21"/>
          <p:cNvSpPr/>
          <p:nvPr/>
        </p:nvSpPr>
        <p:spPr>
          <a:xfrm>
            <a:off x="731520" y="4645152"/>
            <a:ext cx="4937760" cy="64008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Predice cajas + clase en una sola pasada (vs. dos etapas de Faster R-CNN). El conteo = nº de detecciones sobre el umbral.</a:t>
            </a:r>
            <a:endParaRPr lang="en-US" sz="1100" dirty="0"/>
          </a:p>
        </p:txBody>
      </p:sp>
      <p:sp>
        <p:nvSpPr>
          <p:cNvPr id="24" name="Shape 22"/>
          <p:cNvSpPr/>
          <p:nvPr/>
        </p:nvSpPr>
        <p:spPr>
          <a:xfrm>
            <a:off x="6217920" y="4114800"/>
            <a:ext cx="548640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5" name="Text 23"/>
          <p:cNvSpPr/>
          <p:nvPr/>
        </p:nvSpPr>
        <p:spPr>
          <a:xfrm>
            <a:off x="6492240" y="4279392"/>
            <a:ext cx="4937760" cy="365760"/>
          </a:xfrm>
          <a:prstGeom prst="rect">
            <a:avLst/>
          </a:prstGeom>
          <a:noFill/>
          <a:ln/>
        </p:spPr>
        <p:txBody>
          <a:bodyPr wrap="square" lIns="0" tIns="0" rIns="0" bIns="0" rtlCol="0" anchor="ctr"/>
          <a:lstStyle/>
          <a:p>
            <a:pPr indent="0" marL="0">
              <a:buNone/>
            </a:pPr>
            <a:r>
              <a:rPr lang="en-US" sz="1400" b="1" dirty="0">
                <a:solidFill>
                  <a:srgbClr val="16231C"/>
                </a:solidFill>
                <a:latin typeface="Calibri" pitchFamily="34" charset="0"/>
                <a:ea typeface="Calibri" pitchFamily="34" charset="-122"/>
                <a:cs typeface="Calibri" pitchFamily="34" charset="-120"/>
              </a:rPr>
              <a:t>mAP vs MAE</a:t>
            </a:r>
            <a:endParaRPr lang="en-US" sz="1400" dirty="0"/>
          </a:p>
        </p:txBody>
      </p:sp>
      <p:sp>
        <p:nvSpPr>
          <p:cNvPr id="26" name="Text 24"/>
          <p:cNvSpPr/>
          <p:nvPr/>
        </p:nvSpPr>
        <p:spPr>
          <a:xfrm>
            <a:off x="6492240" y="4645152"/>
            <a:ext cx="4937760" cy="64008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mAP@50 mide localización; MAE/MAPE miden el conteo — la métrica del negocio. In-distribution el conteo es casi perfecto.</a:t>
            </a:r>
            <a:endParaRPr lang="en-US" sz="1100" dirty="0"/>
          </a:p>
        </p:txBody>
      </p:sp>
      <p:sp>
        <p:nvSpPr>
          <p:cNvPr id="27" name="Shape 25"/>
          <p:cNvSpPr/>
          <p:nvPr/>
        </p:nvSpPr>
        <p:spPr>
          <a:xfrm>
            <a:off x="457200" y="5486400"/>
            <a:ext cx="548640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28" name="Text 26"/>
          <p:cNvSpPr/>
          <p:nvPr/>
        </p:nvSpPr>
        <p:spPr>
          <a:xfrm>
            <a:off x="731520" y="5650992"/>
            <a:ext cx="4937760" cy="365760"/>
          </a:xfrm>
          <a:prstGeom prst="rect">
            <a:avLst/>
          </a:prstGeom>
          <a:noFill/>
          <a:ln/>
        </p:spPr>
        <p:txBody>
          <a:bodyPr wrap="square" lIns="0" tIns="0" rIns="0" bIns="0" rtlCol="0" anchor="ctr"/>
          <a:lstStyle/>
          <a:p>
            <a:pPr indent="0" marL="0">
              <a:buNone/>
            </a:pPr>
            <a:r>
              <a:rPr lang="en-US" sz="1400" b="1" dirty="0">
                <a:solidFill>
                  <a:srgbClr val="16231C"/>
                </a:solidFill>
                <a:latin typeface="Calibri" pitchFamily="34" charset="0"/>
                <a:ea typeface="Calibri" pitchFamily="34" charset="-122"/>
                <a:cs typeface="Calibri" pitchFamily="34" charset="-120"/>
              </a:rPr>
              <a:t>Brecha sim-to-real</a:t>
            </a:r>
            <a:endParaRPr lang="en-US" sz="1400" dirty="0"/>
          </a:p>
        </p:txBody>
      </p:sp>
      <p:sp>
        <p:nvSpPr>
          <p:cNvPr id="29" name="Text 27"/>
          <p:cNvSpPr/>
          <p:nvPr/>
        </p:nvSpPr>
        <p:spPr>
          <a:xfrm>
            <a:off x="731520" y="6016752"/>
            <a:ext cx="4937760" cy="64008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MAE≈0 valida el método, no la generalización. Validar con fotos reales es el límite honesto del trabajo.</a:t>
            </a:r>
            <a:endParaRPr lang="en-US" sz="1100" dirty="0"/>
          </a:p>
        </p:txBody>
      </p:sp>
      <p:sp>
        <p:nvSpPr>
          <p:cNvPr id="30" name="Shape 28"/>
          <p:cNvSpPr/>
          <p:nvPr/>
        </p:nvSpPr>
        <p:spPr>
          <a:xfrm>
            <a:off x="6217920" y="5486400"/>
            <a:ext cx="5486400" cy="1234440"/>
          </a:xfrm>
          <a:prstGeom prst="roundRect">
            <a:avLst>
              <a:gd name="adj" fmla="val 7407"/>
            </a:avLst>
          </a:prstGeom>
          <a:solidFill>
            <a:srgbClr val="FFFFFF"/>
          </a:solidFill>
          <a:ln w="12700">
            <a:solidFill>
              <a:srgbClr val="DCE4DD"/>
            </a:solidFill>
            <a:prstDash val="solid"/>
          </a:ln>
          <a:effectLst>
            <a:outerShdw sx="100000" sy="100000" kx="0" ky="0" algn="bl" rotWithShape="0" blurRad="114300" dist="38100" dir="5400000">
              <a:srgbClr val="16231C">
                <a:alpha val="10000"/>
              </a:srgbClr>
            </a:outerShdw>
          </a:effectLst>
        </p:spPr>
      </p:sp>
      <p:sp>
        <p:nvSpPr>
          <p:cNvPr id="31" name="Text 29"/>
          <p:cNvSpPr/>
          <p:nvPr/>
        </p:nvSpPr>
        <p:spPr>
          <a:xfrm>
            <a:off x="6492240" y="5650992"/>
            <a:ext cx="4937760" cy="365760"/>
          </a:xfrm>
          <a:prstGeom prst="rect">
            <a:avLst/>
          </a:prstGeom>
          <a:noFill/>
          <a:ln/>
        </p:spPr>
        <p:txBody>
          <a:bodyPr wrap="square" lIns="0" tIns="0" rIns="0" bIns="0" rtlCol="0" anchor="ctr"/>
          <a:lstStyle/>
          <a:p>
            <a:pPr indent="0" marL="0">
              <a:buNone/>
            </a:pPr>
            <a:r>
              <a:rPr lang="en-US" sz="1400" b="1" dirty="0">
                <a:solidFill>
                  <a:srgbClr val="16231C"/>
                </a:solidFill>
                <a:latin typeface="Calibri" pitchFamily="34" charset="0"/>
                <a:ea typeface="Calibri" pitchFamily="34" charset="-122"/>
                <a:cs typeface="Calibri" pitchFamily="34" charset="-120"/>
              </a:rPr>
              <a:t>Pipeline agnóstico al modelo</a:t>
            </a:r>
            <a:endParaRPr lang="en-US" sz="1400" dirty="0"/>
          </a:p>
        </p:txBody>
      </p:sp>
      <p:sp>
        <p:nvSpPr>
          <p:cNvPr id="32" name="Text 30"/>
          <p:cNvSpPr/>
          <p:nvPr/>
        </p:nvSpPr>
        <p:spPr>
          <a:xfrm>
            <a:off x="6492240" y="6016752"/>
            <a:ext cx="4937760" cy="640080"/>
          </a:xfrm>
          <a:prstGeom prst="rect">
            <a:avLst/>
          </a:prstGeom>
          <a:noFill/>
          <a:ln/>
        </p:spPr>
        <p:txBody>
          <a:bodyPr wrap="square" lIns="0" tIns="0" rIns="0" bIns="0" rtlCol="0" anchor="t"/>
          <a:lstStyle/>
          <a:p>
            <a:pPr indent="0" marL="0">
              <a:lnSpc>
                <a:spcPct val="105000"/>
              </a:lnSpc>
              <a:buNone/>
            </a:pPr>
            <a:r>
              <a:rPr lang="en-US" sz="1100" dirty="0">
                <a:solidFill>
                  <a:srgbClr val="5A6F62"/>
                </a:solidFill>
                <a:latin typeface="Calibri" pitchFamily="34" charset="0"/>
                <a:ea typeface="Calibri" pitchFamily="34" charset="-122"/>
                <a:cs typeface="Calibri" pitchFamily="34" charset="-120"/>
              </a:rPr>
              <a:t>Las etiquetas YOLO no atan: se podría usar Faster R-CNN, segmentación o mapas de densidad.</a:t>
            </a:r>
            <a:endParaRPr lang="en-US" sz="1100" dirty="0"/>
          </a:p>
        </p:txBody>
      </p:sp>
      <p:sp>
        <p:nvSpPr>
          <p:cNvPr id="33" name="Text 3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A6F62"/>
                </a:solidFill>
                <a:latin typeface="Calibri" pitchFamily="34" charset="0"/>
                <a:ea typeface="Calibri" pitchFamily="34" charset="-122"/>
                <a:cs typeface="Calibri" pitchFamily="34" charset="-120"/>
              </a:rPr>
              <a:t>Conteo de porotos · VC II — FIUBA</a:t>
            </a:r>
            <a:endParaRPr lang="en-US" sz="900" dirty="0"/>
          </a:p>
        </p:txBody>
      </p:sp>
      <p:sp>
        <p:nvSpPr>
          <p:cNvPr id="34" name="Text 32"/>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A6F6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Conteo de porotos por visión por computadora</dc:title>
  <dc:subject>PptxGenJS Presentation</dc:subject>
  <dc:creator>Dani</dc:creator>
  <cp:lastModifiedBy>Dani</cp:lastModifiedBy>
  <cp:revision>1</cp:revision>
  <dcterms:created xsi:type="dcterms:W3CDTF">2026-06-19T17:45:51Z</dcterms:created>
  <dcterms:modified xsi:type="dcterms:W3CDTF">2026-06-19T17:45:51Z</dcterms:modified>
</cp:coreProperties>
</file>